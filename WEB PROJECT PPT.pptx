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01" y="3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Rectangle 1"/>
          <p:cNvSpPr/>
          <p:nvPr/>
        </p:nvSpPr>
        <p:spPr>
          <a:xfrm>
            <a:off x="0" y="0"/>
            <a:ext cx="3657600" cy="6858000"/>
          </a:xfrm>
          <a:prstGeom prst="rect">
            <a:avLst/>
          </a:prstGeom>
          <a:solidFill>
            <a:srgbClr val="1A2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02920" y="640080"/>
            <a:ext cx="256032" cy="2971800"/>
          </a:xfrm>
          <a:prstGeom prst="roundRect">
            <a:avLst>
              <a:gd name="adj" fmla="val 12000"/>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005840" y="1024127"/>
            <a:ext cx="256032" cy="2468880"/>
          </a:xfrm>
          <a:prstGeom prst="roundRect">
            <a:avLst>
              <a:gd name="adj" fmla="val 12000"/>
            </a:avLst>
          </a:prstGeom>
          <a:solidFill>
            <a:srgbClr val="4597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508760" y="1408176"/>
            <a:ext cx="256032" cy="1965960"/>
          </a:xfrm>
          <a:prstGeom prst="roundRect">
            <a:avLst>
              <a:gd name="adj" fmla="val 12000"/>
            </a:avLst>
          </a:prstGeom>
          <a:solidFill>
            <a:srgbClr val="7BBB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4983480"/>
            <a:ext cx="2743200" cy="777240"/>
          </a:xfrm>
          <a:prstGeom prst="rect">
            <a:avLst/>
          </a:prstGeom>
          <a:noFill/>
        </p:spPr>
        <p:txBody>
          <a:bodyPr wrap="square" lIns="45720" rIns="45720" anchor="t">
            <a:spAutoFit/>
          </a:bodyPr>
          <a:lstStyle/>
          <a:p>
            <a:pPr algn="l">
              <a:spcAft>
                <a:spcPts val="500"/>
              </a:spcAft>
            </a:pPr>
            <a:r>
              <a:rPr sz="1400" b="1" i="0">
                <a:solidFill>
                  <a:srgbClr val="FFFFFF"/>
                </a:solidFill>
                <a:latin typeface="Aptos"/>
              </a:rPr>
              <a:t>DEPARTMENT OF COMPUTER SCIENCE</a:t>
            </a:r>
          </a:p>
          <a:p>
            <a:pPr algn="l">
              <a:spcAft>
                <a:spcPts val="500"/>
              </a:spcAft>
            </a:pPr>
            <a:r>
              <a:rPr sz="1400" b="1" i="0">
                <a:solidFill>
                  <a:srgbClr val="FFFFFF"/>
                </a:solidFill>
                <a:latin typeface="Aptos"/>
              </a:rPr>
              <a:t>AND ENGINEERING</a:t>
            </a:r>
          </a:p>
        </p:txBody>
      </p:sp>
      <p:sp>
        <p:nvSpPr>
          <p:cNvPr id="7" name="TextBox 6"/>
          <p:cNvSpPr txBox="1"/>
          <p:nvPr/>
        </p:nvSpPr>
        <p:spPr>
          <a:xfrm>
            <a:off x="4343400" y="960120"/>
            <a:ext cx="6766560" cy="640080"/>
          </a:xfrm>
          <a:prstGeom prst="rect">
            <a:avLst/>
          </a:prstGeom>
          <a:noFill/>
        </p:spPr>
        <p:txBody>
          <a:bodyPr wrap="square" lIns="45720" rIns="45720" anchor="t">
            <a:spAutoFit/>
          </a:bodyPr>
          <a:lstStyle/>
          <a:p>
            <a:pPr algn="l">
              <a:spcAft>
                <a:spcPts val="500"/>
              </a:spcAft>
            </a:pPr>
            <a:r>
              <a:rPr sz="1500" b="1" i="0">
                <a:solidFill>
                  <a:srgbClr val="238487"/>
                </a:solidFill>
                <a:latin typeface="Aptos"/>
              </a:rPr>
              <a:t>WEB PROGRAMMING</a:t>
            </a:r>
          </a:p>
          <a:p>
            <a:pPr algn="l">
              <a:spcAft>
                <a:spcPts val="500"/>
              </a:spcAft>
            </a:pPr>
            <a:r>
              <a:rPr sz="1500" b="1" i="0">
                <a:solidFill>
                  <a:srgbClr val="238487"/>
                </a:solidFill>
                <a:latin typeface="Aptos"/>
              </a:rPr>
              <a:t>COURSE PROJECT</a:t>
            </a:r>
          </a:p>
        </p:txBody>
      </p:sp>
      <p:sp>
        <p:nvSpPr>
          <p:cNvPr id="8" name="TextBox 7"/>
          <p:cNvSpPr txBox="1"/>
          <p:nvPr/>
        </p:nvSpPr>
        <p:spPr>
          <a:xfrm>
            <a:off x="4297680" y="1828800"/>
            <a:ext cx="7132320" cy="1554480"/>
          </a:xfrm>
          <a:prstGeom prst="rect">
            <a:avLst/>
          </a:prstGeom>
          <a:noFill/>
        </p:spPr>
        <p:txBody>
          <a:bodyPr wrap="square" lIns="45720" rIns="45720" anchor="t">
            <a:spAutoFit/>
          </a:bodyPr>
          <a:lstStyle/>
          <a:p>
            <a:pPr algn="l">
              <a:spcAft>
                <a:spcPts val="500"/>
              </a:spcAft>
            </a:pPr>
            <a:r>
              <a:rPr sz="3200" b="1" i="0">
                <a:solidFill>
                  <a:srgbClr val="1A2B43"/>
                </a:solidFill>
                <a:latin typeface="Aptos"/>
              </a:rPr>
              <a:t>Campus Complaint</a:t>
            </a:r>
          </a:p>
          <a:p>
            <a:pPr algn="l">
              <a:spcAft>
                <a:spcPts val="500"/>
              </a:spcAft>
            </a:pPr>
            <a:r>
              <a:rPr sz="3200" b="1" i="0">
                <a:solidFill>
                  <a:srgbClr val="1A2B43"/>
                </a:solidFill>
                <a:latin typeface="Aptos"/>
              </a:rPr>
              <a:t>&amp; Issue Tracking System</a:t>
            </a:r>
          </a:p>
        </p:txBody>
      </p:sp>
      <p:cxnSp>
        <p:nvCxnSpPr>
          <p:cNvPr id="9" name="Connector 8"/>
          <p:cNvCxnSpPr/>
          <p:nvPr/>
        </p:nvCxnSpPr>
        <p:spPr>
          <a:xfrm>
            <a:off x="4370832" y="3611880"/>
            <a:ext cx="3127247" cy="0"/>
          </a:xfrm>
          <a:prstGeom prst="line">
            <a:avLst/>
          </a:prstGeom>
          <a:ln w="38100">
            <a:solidFill>
              <a:srgbClr val="E2AE5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370832" y="3858768"/>
            <a:ext cx="6400800" cy="731520"/>
          </a:xfrm>
          <a:prstGeom prst="rect">
            <a:avLst/>
          </a:prstGeom>
          <a:noFill/>
        </p:spPr>
        <p:txBody>
          <a:bodyPr wrap="square" lIns="45720" rIns="45720" anchor="t">
            <a:spAutoFit/>
          </a:bodyPr>
          <a:lstStyle/>
          <a:p>
            <a:pPr algn="l">
              <a:spcAft>
                <a:spcPts val="0"/>
              </a:spcAft>
            </a:pPr>
            <a:r>
              <a:rPr sz="1800" b="0" i="0" dirty="0">
                <a:solidFill>
                  <a:srgbClr val="647180"/>
                </a:solidFill>
                <a:latin typeface="Aptos"/>
              </a:rPr>
              <a:t>A simple web-based platform to raise, monitor and manage campus complaints.</a:t>
            </a:r>
          </a:p>
        </p:txBody>
      </p:sp>
      <p:sp>
        <p:nvSpPr>
          <p:cNvPr id="11" name="TextBox 10"/>
          <p:cNvSpPr txBox="1"/>
          <p:nvPr/>
        </p:nvSpPr>
        <p:spPr>
          <a:xfrm>
            <a:off x="4370832" y="5074920"/>
            <a:ext cx="6400800" cy="320040"/>
          </a:xfrm>
          <a:prstGeom prst="rect">
            <a:avLst/>
          </a:prstGeom>
          <a:noFill/>
        </p:spPr>
        <p:txBody>
          <a:bodyPr wrap="square" lIns="45720" rIns="45720" anchor="t">
            <a:spAutoFit/>
          </a:bodyPr>
          <a:lstStyle/>
          <a:p>
            <a:pPr algn="l">
              <a:spcAft>
                <a:spcPts val="0"/>
              </a:spcAft>
            </a:pPr>
            <a:r>
              <a:rPr sz="1400" b="1" i="0" dirty="0">
                <a:solidFill>
                  <a:srgbClr val="27313D"/>
                </a:solidFill>
                <a:latin typeface="Aptos"/>
              </a:rPr>
              <a:t>Presented by: [</a:t>
            </a:r>
            <a:r>
              <a:rPr lang="en-IN" sz="1400" b="1" dirty="0">
                <a:solidFill>
                  <a:srgbClr val="27313D"/>
                </a:solidFill>
                <a:latin typeface="Aptos"/>
              </a:rPr>
              <a:t>A BRINDHA</a:t>
            </a:r>
            <a:r>
              <a:rPr sz="1400" b="1" i="0" dirty="0">
                <a:solidFill>
                  <a:srgbClr val="27313D"/>
                </a:solidFill>
                <a:latin typeface="Aptos"/>
              </a:rPr>
              <a:t>]  |  [</a:t>
            </a:r>
            <a:r>
              <a:rPr lang="en-IN" sz="1400" b="1" dirty="0">
                <a:solidFill>
                  <a:srgbClr val="27313D"/>
                </a:solidFill>
                <a:latin typeface="Aptos"/>
              </a:rPr>
              <a:t>240701083</a:t>
            </a:r>
            <a:r>
              <a:rPr sz="1400" b="1" i="0" dirty="0">
                <a:solidFill>
                  <a:srgbClr val="27313D"/>
                </a:solidFill>
                <a:latin typeface="Aptos"/>
              </a:rPr>
              <a:t>]</a:t>
            </a:r>
          </a:p>
        </p:txBody>
      </p:sp>
      <p:sp>
        <p:nvSpPr>
          <p:cNvPr id="12" name="TextBox 11"/>
          <p:cNvSpPr txBox="1"/>
          <p:nvPr/>
        </p:nvSpPr>
        <p:spPr>
          <a:xfrm>
            <a:off x="4370832" y="5468112"/>
            <a:ext cx="6675120" cy="261610"/>
          </a:xfrm>
          <a:prstGeom prst="rect">
            <a:avLst/>
          </a:prstGeom>
          <a:noFill/>
        </p:spPr>
        <p:txBody>
          <a:bodyPr wrap="square" lIns="45720" rIns="45720" anchor="t">
            <a:spAutoFit/>
          </a:bodyPr>
          <a:lstStyle/>
          <a:p>
            <a:pPr algn="l">
              <a:spcAft>
                <a:spcPts val="0"/>
              </a:spcAft>
            </a:pPr>
            <a:r>
              <a:rPr sz="1100" b="0" i="0" dirty="0">
                <a:solidFill>
                  <a:srgbClr val="647180"/>
                </a:solidFill>
                <a:latin typeface="Aptos"/>
              </a:rPr>
              <a:t>III YEAR  •  COMPUTER SCIENCE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10789920" cy="475488"/>
          </a:xfrm>
          <a:prstGeom prst="rect">
            <a:avLst/>
          </a:prstGeom>
          <a:noFill/>
        </p:spPr>
        <p:txBody>
          <a:bodyPr wrap="square" lIns="45720" rIns="45720" anchor="t">
            <a:spAutoFit/>
          </a:bodyPr>
          <a:lstStyle/>
          <a:p>
            <a:pPr algn="l">
              <a:spcAft>
                <a:spcPts val="0"/>
              </a:spcAft>
            </a:pPr>
            <a:r>
              <a:rPr sz="2400" b="1" i="0">
                <a:solidFill>
                  <a:srgbClr val="1A2B43"/>
                </a:solidFill>
                <a:latin typeface="Aptos"/>
              </a:rPr>
              <a:t>AIM</a:t>
            </a:r>
          </a:p>
        </p:txBody>
      </p:sp>
      <p:cxnSp>
        <p:nvCxnSpPr>
          <p:cNvPr id="4" name="Connector 3"/>
          <p:cNvCxnSpPr/>
          <p:nvPr/>
        </p:nvCxnSpPr>
        <p:spPr>
          <a:xfrm>
            <a:off x="530352" y="932688"/>
            <a:ext cx="11128248" cy="0"/>
          </a:xfrm>
          <a:prstGeom prst="line">
            <a:avLst/>
          </a:prstGeom>
          <a:ln w="12700">
            <a:solidFill>
              <a:srgbClr val="DDE3E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9672"/>
            <a:ext cx="9875520" cy="182880"/>
          </a:xfrm>
          <a:prstGeom prst="rect">
            <a:avLst/>
          </a:prstGeom>
          <a:noFill/>
        </p:spPr>
        <p:txBody>
          <a:bodyPr wrap="square" lIns="0" tIns="0" rIns="0" bIns="0" anchor="t">
            <a:spAutoFit/>
          </a:bodyPr>
          <a:lstStyle/>
          <a:p>
            <a:pPr algn="l">
              <a:spcAft>
                <a:spcPts val="0"/>
              </a:spcAft>
            </a:pPr>
            <a:r>
              <a:rPr sz="800" b="1" i="0">
                <a:solidFill>
                  <a:srgbClr val="647180"/>
                </a:solidFill>
                <a:latin typeface="Aptos"/>
              </a:rPr>
              <a:t>CAMPUS COMPLAINT &amp; ISSUE TRACKING SYSTEM  •  WEB PROGRAMMING</a:t>
            </a:r>
          </a:p>
        </p:txBody>
      </p:sp>
      <p:sp>
        <p:nvSpPr>
          <p:cNvPr id="6" name="TextBox 5"/>
          <p:cNvSpPr txBox="1"/>
          <p:nvPr/>
        </p:nvSpPr>
        <p:spPr>
          <a:xfrm>
            <a:off x="11201400" y="6492240"/>
            <a:ext cx="457200" cy="228600"/>
          </a:xfrm>
          <a:prstGeom prst="rect">
            <a:avLst/>
          </a:prstGeom>
          <a:noFill/>
        </p:spPr>
        <p:txBody>
          <a:bodyPr wrap="square" lIns="0" tIns="0" rIns="0" bIns="0" anchor="t">
            <a:spAutoFit/>
          </a:bodyPr>
          <a:lstStyle/>
          <a:p>
            <a:pPr algn="r">
              <a:spcAft>
                <a:spcPts val="0"/>
              </a:spcAft>
            </a:pPr>
            <a:r>
              <a:rPr sz="900" b="1" i="0">
                <a:solidFill>
                  <a:srgbClr val="238487"/>
                </a:solidFill>
                <a:latin typeface="Aptos"/>
              </a:rPr>
              <a:t>02</a:t>
            </a:r>
          </a:p>
        </p:txBody>
      </p:sp>
      <p:sp>
        <p:nvSpPr>
          <p:cNvPr id="7" name="TextBox 6"/>
          <p:cNvSpPr txBox="1"/>
          <p:nvPr/>
        </p:nvSpPr>
        <p:spPr>
          <a:xfrm>
            <a:off x="777240" y="1417320"/>
            <a:ext cx="10515600" cy="1508760"/>
          </a:xfrm>
          <a:prstGeom prst="rect">
            <a:avLst/>
          </a:prstGeom>
          <a:noFill/>
        </p:spPr>
        <p:txBody>
          <a:bodyPr wrap="square" lIns="45720" rIns="45720" anchor="t">
            <a:spAutoFit/>
          </a:bodyPr>
          <a:lstStyle/>
          <a:p>
            <a:pPr algn="l">
              <a:spcAft>
                <a:spcPts val="0"/>
              </a:spcAft>
            </a:pPr>
            <a:r>
              <a:rPr sz="2500" b="0" i="0">
                <a:solidFill>
                  <a:srgbClr val="27313D"/>
                </a:solidFill>
                <a:latin typeface="Aptos"/>
              </a:rPr>
              <a:t>To develop a web application that allows students and faculty to report campus issues online, follow complaint progress, and help administrators manage and resolve issues in an organized way.</a:t>
            </a:r>
          </a:p>
        </p:txBody>
      </p:sp>
      <p:sp>
        <p:nvSpPr>
          <p:cNvPr id="8" name="Rounded Rectangle 7"/>
          <p:cNvSpPr/>
          <p:nvPr/>
        </p:nvSpPr>
        <p:spPr>
          <a:xfrm>
            <a:off x="777240" y="3337560"/>
            <a:ext cx="10607040" cy="1417320"/>
          </a:xfrm>
          <a:prstGeom prst="roundRect">
            <a:avLst>
              <a:gd name="adj" fmla="val 12000"/>
            </a:avLst>
          </a:prstGeom>
          <a:solidFill>
            <a:srgbClr val="DC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611880"/>
            <a:ext cx="1463040" cy="274320"/>
          </a:xfrm>
          <a:prstGeom prst="rect">
            <a:avLst/>
          </a:prstGeom>
          <a:noFill/>
        </p:spPr>
        <p:txBody>
          <a:bodyPr wrap="square" lIns="45720" rIns="45720" anchor="t">
            <a:spAutoFit/>
          </a:bodyPr>
          <a:lstStyle/>
          <a:p>
            <a:pPr algn="l">
              <a:spcAft>
                <a:spcPts val="0"/>
              </a:spcAft>
            </a:pPr>
            <a:r>
              <a:rPr sz="1100" b="1" i="0">
                <a:solidFill>
                  <a:srgbClr val="238487"/>
                </a:solidFill>
                <a:latin typeface="Aptos"/>
              </a:rPr>
              <a:t>CORE IDEA</a:t>
            </a:r>
          </a:p>
        </p:txBody>
      </p:sp>
      <p:sp>
        <p:nvSpPr>
          <p:cNvPr id="10" name="TextBox 9"/>
          <p:cNvSpPr txBox="1"/>
          <p:nvPr/>
        </p:nvSpPr>
        <p:spPr>
          <a:xfrm>
            <a:off x="1051560" y="3977639"/>
            <a:ext cx="9692640" cy="548640"/>
          </a:xfrm>
          <a:prstGeom prst="rect">
            <a:avLst/>
          </a:prstGeom>
          <a:noFill/>
        </p:spPr>
        <p:txBody>
          <a:bodyPr wrap="square" lIns="45720" rIns="45720" anchor="t">
            <a:spAutoFit/>
          </a:bodyPr>
          <a:lstStyle/>
          <a:p>
            <a:pPr algn="l">
              <a:spcAft>
                <a:spcPts val="0"/>
              </a:spcAft>
            </a:pPr>
            <a:r>
              <a:rPr sz="2100" b="1" i="0">
                <a:solidFill>
                  <a:srgbClr val="1A2B43"/>
                </a:solidFill>
                <a:latin typeface="Aptos"/>
              </a:rPr>
              <a:t>One place to submit an issue, check its status, and support timely action.</a:t>
            </a:r>
          </a:p>
        </p:txBody>
      </p:sp>
      <p:sp>
        <p:nvSpPr>
          <p:cNvPr id="11" name="TextBox 10"/>
          <p:cNvSpPr txBox="1"/>
          <p:nvPr/>
        </p:nvSpPr>
        <p:spPr>
          <a:xfrm>
            <a:off x="822960" y="5212080"/>
            <a:ext cx="10241280" cy="548640"/>
          </a:xfrm>
          <a:prstGeom prst="rect">
            <a:avLst/>
          </a:prstGeom>
          <a:noFill/>
        </p:spPr>
        <p:txBody>
          <a:bodyPr wrap="square" lIns="45720" rIns="45720" anchor="t">
            <a:spAutoFit/>
          </a:bodyPr>
          <a:lstStyle/>
          <a:p>
            <a:pPr algn="l">
              <a:spcAft>
                <a:spcPts val="0"/>
              </a:spcAft>
            </a:pPr>
            <a:r>
              <a:rPr sz="1600" b="0" i="0">
                <a:solidFill>
                  <a:srgbClr val="647180"/>
                </a:solidFill>
                <a:latin typeface="Aptos"/>
              </a:rPr>
              <a:t>The system is designed to reduce repeated follow-ups and make complaint handling more transparent.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10789920" cy="475488"/>
          </a:xfrm>
          <a:prstGeom prst="rect">
            <a:avLst/>
          </a:prstGeom>
          <a:noFill/>
        </p:spPr>
        <p:txBody>
          <a:bodyPr wrap="square" lIns="45720" rIns="45720" anchor="t">
            <a:spAutoFit/>
          </a:bodyPr>
          <a:lstStyle/>
          <a:p>
            <a:pPr algn="l">
              <a:spcAft>
                <a:spcPts val="0"/>
              </a:spcAft>
            </a:pPr>
            <a:r>
              <a:rPr sz="2400" b="1" i="0">
                <a:solidFill>
                  <a:srgbClr val="1A2B43"/>
                </a:solidFill>
                <a:latin typeface="Aptos"/>
              </a:rPr>
              <a:t>OBJECTIVES</a:t>
            </a:r>
          </a:p>
        </p:txBody>
      </p:sp>
      <p:cxnSp>
        <p:nvCxnSpPr>
          <p:cNvPr id="4" name="Connector 3"/>
          <p:cNvCxnSpPr/>
          <p:nvPr/>
        </p:nvCxnSpPr>
        <p:spPr>
          <a:xfrm>
            <a:off x="530352" y="932688"/>
            <a:ext cx="11128248" cy="0"/>
          </a:xfrm>
          <a:prstGeom prst="line">
            <a:avLst/>
          </a:prstGeom>
          <a:ln w="12700">
            <a:solidFill>
              <a:srgbClr val="DDE3E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9672"/>
            <a:ext cx="9875520" cy="182880"/>
          </a:xfrm>
          <a:prstGeom prst="rect">
            <a:avLst/>
          </a:prstGeom>
          <a:noFill/>
        </p:spPr>
        <p:txBody>
          <a:bodyPr wrap="square" lIns="0" tIns="0" rIns="0" bIns="0" anchor="t">
            <a:spAutoFit/>
          </a:bodyPr>
          <a:lstStyle/>
          <a:p>
            <a:pPr algn="l">
              <a:spcAft>
                <a:spcPts val="0"/>
              </a:spcAft>
            </a:pPr>
            <a:r>
              <a:rPr sz="800" b="1" i="0">
                <a:solidFill>
                  <a:srgbClr val="647180"/>
                </a:solidFill>
                <a:latin typeface="Aptos"/>
              </a:rPr>
              <a:t>CAMPUS COMPLAINT &amp; ISSUE TRACKING SYSTEM  •  WEB PROGRAMMING</a:t>
            </a:r>
          </a:p>
        </p:txBody>
      </p:sp>
      <p:sp>
        <p:nvSpPr>
          <p:cNvPr id="6" name="TextBox 5"/>
          <p:cNvSpPr txBox="1"/>
          <p:nvPr/>
        </p:nvSpPr>
        <p:spPr>
          <a:xfrm>
            <a:off x="11201400" y="6492240"/>
            <a:ext cx="457200" cy="228600"/>
          </a:xfrm>
          <a:prstGeom prst="rect">
            <a:avLst/>
          </a:prstGeom>
          <a:noFill/>
        </p:spPr>
        <p:txBody>
          <a:bodyPr wrap="square" lIns="0" tIns="0" rIns="0" bIns="0" anchor="t">
            <a:spAutoFit/>
          </a:bodyPr>
          <a:lstStyle/>
          <a:p>
            <a:pPr algn="r">
              <a:spcAft>
                <a:spcPts val="0"/>
              </a:spcAft>
            </a:pPr>
            <a:r>
              <a:rPr sz="900" b="1" i="0">
                <a:solidFill>
                  <a:srgbClr val="238487"/>
                </a:solidFill>
                <a:latin typeface="Aptos"/>
              </a:rPr>
              <a:t>03</a:t>
            </a:r>
          </a:p>
        </p:txBody>
      </p:sp>
      <p:sp>
        <p:nvSpPr>
          <p:cNvPr id="7" name="Rounded Rectangle 6"/>
          <p:cNvSpPr/>
          <p:nvPr/>
        </p:nvSpPr>
        <p:spPr>
          <a:xfrm>
            <a:off x="685800" y="1234440"/>
            <a:ext cx="5257800" cy="1234440"/>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0392" y="1417320"/>
            <a:ext cx="502920" cy="384048"/>
          </a:xfrm>
          <a:prstGeom prst="rect">
            <a:avLst/>
          </a:prstGeom>
          <a:noFill/>
        </p:spPr>
        <p:txBody>
          <a:bodyPr wrap="square" lIns="45720" rIns="45720" anchor="t">
            <a:spAutoFit/>
          </a:bodyPr>
          <a:lstStyle/>
          <a:p>
            <a:pPr algn="l">
              <a:spcAft>
                <a:spcPts val="0"/>
              </a:spcAft>
            </a:pPr>
            <a:r>
              <a:rPr sz="1800" b="1" i="0">
                <a:solidFill>
                  <a:srgbClr val="238487"/>
                </a:solidFill>
                <a:latin typeface="Aptos"/>
              </a:rPr>
              <a:t>01</a:t>
            </a:r>
          </a:p>
        </p:txBody>
      </p:sp>
      <p:sp>
        <p:nvSpPr>
          <p:cNvPr id="9" name="TextBox 8"/>
          <p:cNvSpPr txBox="1"/>
          <p:nvPr/>
        </p:nvSpPr>
        <p:spPr>
          <a:xfrm>
            <a:off x="1463040" y="1399032"/>
            <a:ext cx="4160520" cy="310896"/>
          </a:xfrm>
          <a:prstGeom prst="rect">
            <a:avLst/>
          </a:prstGeom>
          <a:noFill/>
        </p:spPr>
        <p:txBody>
          <a:bodyPr wrap="square" lIns="45720" rIns="45720" anchor="t">
            <a:spAutoFit/>
          </a:bodyPr>
          <a:lstStyle/>
          <a:p>
            <a:pPr algn="l">
              <a:spcAft>
                <a:spcPts val="0"/>
              </a:spcAft>
            </a:pPr>
            <a:r>
              <a:rPr sz="1600" b="1" i="0">
                <a:solidFill>
                  <a:srgbClr val="1A2B43"/>
                </a:solidFill>
                <a:latin typeface="Aptos"/>
              </a:rPr>
              <a:t>Easy complaint submission</a:t>
            </a:r>
          </a:p>
        </p:txBody>
      </p:sp>
      <p:sp>
        <p:nvSpPr>
          <p:cNvPr id="10" name="TextBox 9"/>
          <p:cNvSpPr txBox="1"/>
          <p:nvPr/>
        </p:nvSpPr>
        <p:spPr>
          <a:xfrm>
            <a:off x="1463040" y="1764792"/>
            <a:ext cx="4160520" cy="512064"/>
          </a:xfrm>
          <a:prstGeom prst="rect">
            <a:avLst/>
          </a:prstGeom>
          <a:noFill/>
        </p:spPr>
        <p:txBody>
          <a:bodyPr wrap="square" lIns="45720" rIns="45720" anchor="t">
            <a:spAutoFit/>
          </a:bodyPr>
          <a:lstStyle/>
          <a:p>
            <a:pPr algn="l">
              <a:spcAft>
                <a:spcPts val="0"/>
              </a:spcAft>
            </a:pPr>
            <a:r>
              <a:rPr sz="1200" b="0" i="0">
                <a:solidFill>
                  <a:srgbClr val="27313D"/>
                </a:solidFill>
                <a:latin typeface="Aptos"/>
              </a:rPr>
              <a:t>Provide a clear form for students and faculty to report issues.</a:t>
            </a:r>
          </a:p>
        </p:txBody>
      </p:sp>
      <p:sp>
        <p:nvSpPr>
          <p:cNvPr id="11" name="Rounded Rectangle 10"/>
          <p:cNvSpPr/>
          <p:nvPr/>
        </p:nvSpPr>
        <p:spPr>
          <a:xfrm>
            <a:off x="6309360" y="1234440"/>
            <a:ext cx="5257800" cy="1234440"/>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73952" y="1417320"/>
            <a:ext cx="502920" cy="384048"/>
          </a:xfrm>
          <a:prstGeom prst="rect">
            <a:avLst/>
          </a:prstGeom>
          <a:noFill/>
        </p:spPr>
        <p:txBody>
          <a:bodyPr wrap="square" lIns="45720" rIns="45720" anchor="t">
            <a:spAutoFit/>
          </a:bodyPr>
          <a:lstStyle/>
          <a:p>
            <a:pPr algn="l">
              <a:spcAft>
                <a:spcPts val="0"/>
              </a:spcAft>
            </a:pPr>
            <a:r>
              <a:rPr sz="1800" b="1" i="0">
                <a:solidFill>
                  <a:srgbClr val="238487"/>
                </a:solidFill>
                <a:latin typeface="Aptos"/>
              </a:rPr>
              <a:t>02</a:t>
            </a:r>
          </a:p>
        </p:txBody>
      </p:sp>
      <p:sp>
        <p:nvSpPr>
          <p:cNvPr id="13" name="TextBox 12"/>
          <p:cNvSpPr txBox="1"/>
          <p:nvPr/>
        </p:nvSpPr>
        <p:spPr>
          <a:xfrm>
            <a:off x="7086600" y="1399032"/>
            <a:ext cx="4160520" cy="310896"/>
          </a:xfrm>
          <a:prstGeom prst="rect">
            <a:avLst/>
          </a:prstGeom>
          <a:noFill/>
        </p:spPr>
        <p:txBody>
          <a:bodyPr wrap="square" lIns="45720" rIns="45720" anchor="t">
            <a:spAutoFit/>
          </a:bodyPr>
          <a:lstStyle/>
          <a:p>
            <a:pPr algn="l">
              <a:spcAft>
                <a:spcPts val="0"/>
              </a:spcAft>
            </a:pPr>
            <a:r>
              <a:rPr sz="1600" b="1" i="0">
                <a:solidFill>
                  <a:srgbClr val="1A2B43"/>
                </a:solidFill>
                <a:latin typeface="Aptos"/>
              </a:rPr>
              <a:t>Status visibility</a:t>
            </a:r>
          </a:p>
        </p:txBody>
      </p:sp>
      <p:sp>
        <p:nvSpPr>
          <p:cNvPr id="14" name="TextBox 13"/>
          <p:cNvSpPr txBox="1"/>
          <p:nvPr/>
        </p:nvSpPr>
        <p:spPr>
          <a:xfrm>
            <a:off x="7086600" y="1764792"/>
            <a:ext cx="4160520" cy="512064"/>
          </a:xfrm>
          <a:prstGeom prst="rect">
            <a:avLst/>
          </a:prstGeom>
          <a:noFill/>
        </p:spPr>
        <p:txBody>
          <a:bodyPr wrap="square" lIns="45720" rIns="45720" anchor="t">
            <a:spAutoFit/>
          </a:bodyPr>
          <a:lstStyle/>
          <a:p>
            <a:pPr algn="l">
              <a:spcAft>
                <a:spcPts val="0"/>
              </a:spcAft>
            </a:pPr>
            <a:r>
              <a:rPr sz="1200" b="0" i="0">
                <a:solidFill>
                  <a:srgbClr val="27313D"/>
                </a:solidFill>
                <a:latin typeface="Aptos"/>
              </a:rPr>
              <a:t>Allow users to view complaint details and current status.</a:t>
            </a:r>
          </a:p>
        </p:txBody>
      </p:sp>
      <p:sp>
        <p:nvSpPr>
          <p:cNvPr id="15" name="Rounded Rectangle 14"/>
          <p:cNvSpPr/>
          <p:nvPr/>
        </p:nvSpPr>
        <p:spPr>
          <a:xfrm>
            <a:off x="685800" y="2807208"/>
            <a:ext cx="5257800" cy="1234440"/>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0392" y="2990088"/>
            <a:ext cx="502920" cy="384048"/>
          </a:xfrm>
          <a:prstGeom prst="rect">
            <a:avLst/>
          </a:prstGeom>
          <a:noFill/>
        </p:spPr>
        <p:txBody>
          <a:bodyPr wrap="square" lIns="45720" rIns="45720" anchor="t">
            <a:spAutoFit/>
          </a:bodyPr>
          <a:lstStyle/>
          <a:p>
            <a:pPr algn="l">
              <a:spcAft>
                <a:spcPts val="0"/>
              </a:spcAft>
            </a:pPr>
            <a:r>
              <a:rPr sz="1800" b="1" i="0">
                <a:solidFill>
                  <a:srgbClr val="238487"/>
                </a:solidFill>
                <a:latin typeface="Aptos"/>
              </a:rPr>
              <a:t>03</a:t>
            </a:r>
          </a:p>
        </p:txBody>
      </p:sp>
      <p:sp>
        <p:nvSpPr>
          <p:cNvPr id="17" name="TextBox 16"/>
          <p:cNvSpPr txBox="1"/>
          <p:nvPr/>
        </p:nvSpPr>
        <p:spPr>
          <a:xfrm>
            <a:off x="1463040" y="2971800"/>
            <a:ext cx="4160520" cy="310896"/>
          </a:xfrm>
          <a:prstGeom prst="rect">
            <a:avLst/>
          </a:prstGeom>
          <a:noFill/>
        </p:spPr>
        <p:txBody>
          <a:bodyPr wrap="square" lIns="45720" rIns="45720" anchor="t">
            <a:spAutoFit/>
          </a:bodyPr>
          <a:lstStyle/>
          <a:p>
            <a:pPr algn="l">
              <a:spcAft>
                <a:spcPts val="0"/>
              </a:spcAft>
            </a:pPr>
            <a:r>
              <a:rPr sz="1600" b="1" i="0">
                <a:solidFill>
                  <a:srgbClr val="1A2B43"/>
                </a:solidFill>
                <a:latin typeface="Aptos"/>
              </a:rPr>
              <a:t>Admin management</a:t>
            </a:r>
          </a:p>
        </p:txBody>
      </p:sp>
      <p:sp>
        <p:nvSpPr>
          <p:cNvPr id="18" name="TextBox 17"/>
          <p:cNvSpPr txBox="1"/>
          <p:nvPr/>
        </p:nvSpPr>
        <p:spPr>
          <a:xfrm>
            <a:off x="1463040" y="3337560"/>
            <a:ext cx="4160520" cy="512064"/>
          </a:xfrm>
          <a:prstGeom prst="rect">
            <a:avLst/>
          </a:prstGeom>
          <a:noFill/>
        </p:spPr>
        <p:txBody>
          <a:bodyPr wrap="square" lIns="45720" rIns="45720" anchor="t">
            <a:spAutoFit/>
          </a:bodyPr>
          <a:lstStyle/>
          <a:p>
            <a:pPr algn="l">
              <a:spcAft>
                <a:spcPts val="0"/>
              </a:spcAft>
            </a:pPr>
            <a:r>
              <a:rPr sz="1200" b="0" i="0">
                <a:solidFill>
                  <a:srgbClr val="27313D"/>
                </a:solidFill>
                <a:latin typeface="Aptos"/>
              </a:rPr>
              <a:t>Help administrators review, prioritize, resolve or remove complaints.</a:t>
            </a:r>
          </a:p>
        </p:txBody>
      </p:sp>
      <p:sp>
        <p:nvSpPr>
          <p:cNvPr id="19" name="Rounded Rectangle 18"/>
          <p:cNvSpPr/>
          <p:nvPr/>
        </p:nvSpPr>
        <p:spPr>
          <a:xfrm>
            <a:off x="6309360" y="2807208"/>
            <a:ext cx="5257800" cy="1234440"/>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73952" y="2990088"/>
            <a:ext cx="502920" cy="384048"/>
          </a:xfrm>
          <a:prstGeom prst="rect">
            <a:avLst/>
          </a:prstGeom>
          <a:noFill/>
        </p:spPr>
        <p:txBody>
          <a:bodyPr wrap="square" lIns="45720" rIns="45720" anchor="t">
            <a:spAutoFit/>
          </a:bodyPr>
          <a:lstStyle/>
          <a:p>
            <a:pPr algn="l">
              <a:spcAft>
                <a:spcPts val="0"/>
              </a:spcAft>
            </a:pPr>
            <a:r>
              <a:rPr sz="1800" b="1" i="0">
                <a:solidFill>
                  <a:srgbClr val="238487"/>
                </a:solidFill>
                <a:latin typeface="Aptos"/>
              </a:rPr>
              <a:t>04</a:t>
            </a:r>
          </a:p>
        </p:txBody>
      </p:sp>
      <p:sp>
        <p:nvSpPr>
          <p:cNvPr id="21" name="TextBox 20"/>
          <p:cNvSpPr txBox="1"/>
          <p:nvPr/>
        </p:nvSpPr>
        <p:spPr>
          <a:xfrm>
            <a:off x="7086600" y="2971800"/>
            <a:ext cx="4160520" cy="310896"/>
          </a:xfrm>
          <a:prstGeom prst="rect">
            <a:avLst/>
          </a:prstGeom>
          <a:noFill/>
        </p:spPr>
        <p:txBody>
          <a:bodyPr wrap="square" lIns="45720" rIns="45720" anchor="t">
            <a:spAutoFit/>
          </a:bodyPr>
          <a:lstStyle/>
          <a:p>
            <a:pPr algn="l">
              <a:spcAft>
                <a:spcPts val="0"/>
              </a:spcAft>
            </a:pPr>
            <a:r>
              <a:rPr sz="1600" b="1" i="0">
                <a:solidFill>
                  <a:srgbClr val="1A2B43"/>
                </a:solidFill>
                <a:latin typeface="Aptos"/>
              </a:rPr>
              <a:t>Deadline awareness</a:t>
            </a:r>
          </a:p>
        </p:txBody>
      </p:sp>
      <p:sp>
        <p:nvSpPr>
          <p:cNvPr id="22" name="TextBox 21"/>
          <p:cNvSpPr txBox="1"/>
          <p:nvPr/>
        </p:nvSpPr>
        <p:spPr>
          <a:xfrm>
            <a:off x="7086600" y="3337560"/>
            <a:ext cx="4160520" cy="512064"/>
          </a:xfrm>
          <a:prstGeom prst="rect">
            <a:avLst/>
          </a:prstGeom>
          <a:noFill/>
        </p:spPr>
        <p:txBody>
          <a:bodyPr wrap="square" lIns="45720" rIns="45720" anchor="t">
            <a:spAutoFit/>
          </a:bodyPr>
          <a:lstStyle/>
          <a:p>
            <a:pPr algn="l">
              <a:spcAft>
                <a:spcPts val="0"/>
              </a:spcAft>
            </a:pPr>
            <a:r>
              <a:rPr sz="1200" b="0" i="0">
                <a:solidFill>
                  <a:srgbClr val="27313D"/>
                </a:solidFill>
                <a:latin typeface="Aptos"/>
              </a:rPr>
              <a:t>Highlight complaints approaching or passing the expected resolution period.</a:t>
            </a:r>
          </a:p>
        </p:txBody>
      </p:sp>
      <p:sp>
        <p:nvSpPr>
          <p:cNvPr id="23" name="Rounded Rectangle 22"/>
          <p:cNvSpPr/>
          <p:nvPr/>
        </p:nvSpPr>
        <p:spPr>
          <a:xfrm>
            <a:off x="685800" y="4379976"/>
            <a:ext cx="5257800" cy="1234440"/>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50392" y="4562856"/>
            <a:ext cx="502920" cy="384048"/>
          </a:xfrm>
          <a:prstGeom prst="rect">
            <a:avLst/>
          </a:prstGeom>
          <a:noFill/>
        </p:spPr>
        <p:txBody>
          <a:bodyPr wrap="square" lIns="45720" rIns="45720" anchor="t">
            <a:spAutoFit/>
          </a:bodyPr>
          <a:lstStyle/>
          <a:p>
            <a:pPr algn="l">
              <a:spcAft>
                <a:spcPts val="0"/>
              </a:spcAft>
            </a:pPr>
            <a:r>
              <a:rPr sz="1800" b="1" i="0">
                <a:solidFill>
                  <a:srgbClr val="238487"/>
                </a:solidFill>
                <a:latin typeface="Aptos"/>
              </a:rPr>
              <a:t>05</a:t>
            </a:r>
          </a:p>
        </p:txBody>
      </p:sp>
      <p:sp>
        <p:nvSpPr>
          <p:cNvPr id="25" name="TextBox 24"/>
          <p:cNvSpPr txBox="1"/>
          <p:nvPr/>
        </p:nvSpPr>
        <p:spPr>
          <a:xfrm>
            <a:off x="1463040" y="4544568"/>
            <a:ext cx="4160520" cy="310896"/>
          </a:xfrm>
          <a:prstGeom prst="rect">
            <a:avLst/>
          </a:prstGeom>
          <a:noFill/>
        </p:spPr>
        <p:txBody>
          <a:bodyPr wrap="square" lIns="45720" rIns="45720" anchor="t">
            <a:spAutoFit/>
          </a:bodyPr>
          <a:lstStyle/>
          <a:p>
            <a:pPr algn="l">
              <a:spcAft>
                <a:spcPts val="0"/>
              </a:spcAft>
            </a:pPr>
            <a:r>
              <a:rPr sz="1600" b="1" i="0">
                <a:solidFill>
                  <a:srgbClr val="1A2B43"/>
                </a:solidFill>
                <a:latin typeface="Aptos"/>
              </a:rPr>
              <a:t>Useful overview</a:t>
            </a:r>
          </a:p>
        </p:txBody>
      </p:sp>
      <p:sp>
        <p:nvSpPr>
          <p:cNvPr id="26" name="TextBox 25"/>
          <p:cNvSpPr txBox="1"/>
          <p:nvPr/>
        </p:nvSpPr>
        <p:spPr>
          <a:xfrm>
            <a:off x="1463040" y="4910328"/>
            <a:ext cx="4160520" cy="512064"/>
          </a:xfrm>
          <a:prstGeom prst="rect">
            <a:avLst/>
          </a:prstGeom>
          <a:noFill/>
        </p:spPr>
        <p:txBody>
          <a:bodyPr wrap="square" lIns="45720" rIns="45720" anchor="t">
            <a:spAutoFit/>
          </a:bodyPr>
          <a:lstStyle/>
          <a:p>
            <a:pPr algn="l">
              <a:spcAft>
                <a:spcPts val="0"/>
              </a:spcAft>
            </a:pPr>
            <a:r>
              <a:rPr sz="1200" b="0" i="0">
                <a:solidFill>
                  <a:srgbClr val="27313D"/>
                </a:solidFill>
                <a:latin typeface="Aptos"/>
              </a:rPr>
              <a:t>Present complaint summaries, history and feedback in one application.</a:t>
            </a:r>
          </a:p>
        </p:txBody>
      </p:sp>
      <p:sp>
        <p:nvSpPr>
          <p:cNvPr id="27" name="Rounded Rectangle 26"/>
          <p:cNvSpPr/>
          <p:nvPr/>
        </p:nvSpPr>
        <p:spPr>
          <a:xfrm>
            <a:off x="6309360" y="4379976"/>
            <a:ext cx="5257800" cy="1234440"/>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73952" y="4562856"/>
            <a:ext cx="502920" cy="384048"/>
          </a:xfrm>
          <a:prstGeom prst="rect">
            <a:avLst/>
          </a:prstGeom>
          <a:noFill/>
        </p:spPr>
        <p:txBody>
          <a:bodyPr wrap="square" lIns="45720" rIns="45720" anchor="t">
            <a:spAutoFit/>
          </a:bodyPr>
          <a:lstStyle/>
          <a:p>
            <a:pPr algn="l">
              <a:spcAft>
                <a:spcPts val="0"/>
              </a:spcAft>
            </a:pPr>
            <a:r>
              <a:rPr sz="1800" b="1" i="0">
                <a:solidFill>
                  <a:srgbClr val="238487"/>
                </a:solidFill>
                <a:latin typeface="Aptos"/>
              </a:rPr>
              <a:t>06</a:t>
            </a:r>
          </a:p>
        </p:txBody>
      </p:sp>
      <p:sp>
        <p:nvSpPr>
          <p:cNvPr id="29" name="TextBox 28"/>
          <p:cNvSpPr txBox="1"/>
          <p:nvPr/>
        </p:nvSpPr>
        <p:spPr>
          <a:xfrm>
            <a:off x="7086600" y="4544568"/>
            <a:ext cx="4160520" cy="310896"/>
          </a:xfrm>
          <a:prstGeom prst="rect">
            <a:avLst/>
          </a:prstGeom>
          <a:noFill/>
        </p:spPr>
        <p:txBody>
          <a:bodyPr wrap="square" lIns="45720" rIns="45720" anchor="t">
            <a:spAutoFit/>
          </a:bodyPr>
          <a:lstStyle/>
          <a:p>
            <a:pPr algn="l">
              <a:spcAft>
                <a:spcPts val="0"/>
              </a:spcAft>
            </a:pPr>
            <a:r>
              <a:rPr sz="1600" b="1" i="0">
                <a:solidFill>
                  <a:srgbClr val="1A2B43"/>
                </a:solidFill>
                <a:latin typeface="Aptos"/>
              </a:rPr>
              <a:t>Web programming practice</a:t>
            </a:r>
          </a:p>
        </p:txBody>
      </p:sp>
      <p:sp>
        <p:nvSpPr>
          <p:cNvPr id="30" name="TextBox 29"/>
          <p:cNvSpPr txBox="1"/>
          <p:nvPr/>
        </p:nvSpPr>
        <p:spPr>
          <a:xfrm>
            <a:off x="7086600" y="4910328"/>
            <a:ext cx="4160520" cy="512064"/>
          </a:xfrm>
          <a:prstGeom prst="rect">
            <a:avLst/>
          </a:prstGeom>
          <a:noFill/>
        </p:spPr>
        <p:txBody>
          <a:bodyPr wrap="square" lIns="45720" rIns="45720" anchor="t">
            <a:spAutoFit/>
          </a:bodyPr>
          <a:lstStyle/>
          <a:p>
            <a:pPr algn="l">
              <a:spcAft>
                <a:spcPts val="0"/>
              </a:spcAft>
            </a:pPr>
            <a:r>
              <a:rPr sz="1200" b="0" i="0">
                <a:solidFill>
                  <a:srgbClr val="27313D"/>
                </a:solidFill>
                <a:latin typeface="Aptos"/>
              </a:rPr>
              <a:t>Apply HTML, CSS, JavaScript and server-side programming concepts.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10789920" cy="475488"/>
          </a:xfrm>
          <a:prstGeom prst="rect">
            <a:avLst/>
          </a:prstGeom>
          <a:noFill/>
        </p:spPr>
        <p:txBody>
          <a:bodyPr wrap="square" lIns="45720" rIns="45720" anchor="t">
            <a:spAutoFit/>
          </a:bodyPr>
          <a:lstStyle/>
          <a:p>
            <a:pPr algn="l">
              <a:spcAft>
                <a:spcPts val="0"/>
              </a:spcAft>
            </a:pPr>
            <a:r>
              <a:rPr sz="2400" b="1" i="0">
                <a:solidFill>
                  <a:srgbClr val="1A2B43"/>
                </a:solidFill>
                <a:latin typeface="Aptos"/>
              </a:rPr>
              <a:t>ABSTRACT</a:t>
            </a:r>
          </a:p>
        </p:txBody>
      </p:sp>
      <p:cxnSp>
        <p:nvCxnSpPr>
          <p:cNvPr id="4" name="Connector 3"/>
          <p:cNvCxnSpPr/>
          <p:nvPr/>
        </p:nvCxnSpPr>
        <p:spPr>
          <a:xfrm>
            <a:off x="530352" y="932688"/>
            <a:ext cx="11128248" cy="0"/>
          </a:xfrm>
          <a:prstGeom prst="line">
            <a:avLst/>
          </a:prstGeom>
          <a:ln w="12700">
            <a:solidFill>
              <a:srgbClr val="DDE3E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9672"/>
            <a:ext cx="9875520" cy="182880"/>
          </a:xfrm>
          <a:prstGeom prst="rect">
            <a:avLst/>
          </a:prstGeom>
          <a:noFill/>
        </p:spPr>
        <p:txBody>
          <a:bodyPr wrap="square" lIns="0" tIns="0" rIns="0" bIns="0" anchor="t">
            <a:spAutoFit/>
          </a:bodyPr>
          <a:lstStyle/>
          <a:p>
            <a:pPr algn="l">
              <a:spcAft>
                <a:spcPts val="0"/>
              </a:spcAft>
            </a:pPr>
            <a:r>
              <a:rPr sz="800" b="1" i="0">
                <a:solidFill>
                  <a:srgbClr val="647180"/>
                </a:solidFill>
                <a:latin typeface="Aptos"/>
              </a:rPr>
              <a:t>CAMPUS COMPLAINT &amp; ISSUE TRACKING SYSTEM  •  WEB PROGRAMMING</a:t>
            </a:r>
          </a:p>
        </p:txBody>
      </p:sp>
      <p:sp>
        <p:nvSpPr>
          <p:cNvPr id="6" name="TextBox 5"/>
          <p:cNvSpPr txBox="1"/>
          <p:nvPr/>
        </p:nvSpPr>
        <p:spPr>
          <a:xfrm>
            <a:off x="11201400" y="6492240"/>
            <a:ext cx="457200" cy="228600"/>
          </a:xfrm>
          <a:prstGeom prst="rect">
            <a:avLst/>
          </a:prstGeom>
          <a:noFill/>
        </p:spPr>
        <p:txBody>
          <a:bodyPr wrap="square" lIns="0" tIns="0" rIns="0" bIns="0" anchor="t">
            <a:spAutoFit/>
          </a:bodyPr>
          <a:lstStyle/>
          <a:p>
            <a:pPr algn="r">
              <a:spcAft>
                <a:spcPts val="0"/>
              </a:spcAft>
            </a:pPr>
            <a:r>
              <a:rPr sz="900" b="1" i="0">
                <a:solidFill>
                  <a:srgbClr val="238487"/>
                </a:solidFill>
                <a:latin typeface="Aptos"/>
              </a:rPr>
              <a:t>04</a:t>
            </a:r>
          </a:p>
        </p:txBody>
      </p:sp>
      <p:sp>
        <p:nvSpPr>
          <p:cNvPr id="7" name="TextBox 6"/>
          <p:cNvSpPr txBox="1"/>
          <p:nvPr/>
        </p:nvSpPr>
        <p:spPr>
          <a:xfrm>
            <a:off x="777240" y="1353312"/>
            <a:ext cx="6629400" cy="3291840"/>
          </a:xfrm>
          <a:prstGeom prst="rect">
            <a:avLst/>
          </a:prstGeom>
          <a:noFill/>
        </p:spPr>
        <p:txBody>
          <a:bodyPr wrap="square" lIns="45720" rIns="45720" anchor="t">
            <a:spAutoFit/>
          </a:bodyPr>
          <a:lstStyle/>
          <a:p>
            <a:pPr algn="l">
              <a:spcAft>
                <a:spcPts val="0"/>
              </a:spcAft>
            </a:pPr>
            <a:r>
              <a:rPr sz="1800" b="0" i="0">
                <a:solidFill>
                  <a:srgbClr val="27313D"/>
                </a:solidFill>
                <a:latin typeface="Aptos"/>
              </a:rPr>
              <a:t>The Campus Complaint and Issue Tracking System is a web application for recording and monitoring campus-related issues. Users can sign up, log in, submit complaints with relevant details, and view their progress. An administrator can review complaints, manage their status and monitor issues that need attention. The interface is built with HTML and CSS, while JavaScript handles form interaction, validation and requests to the backend. Node.js and Express provide server-side routes, and a JSON file is used for data storage in the current prototype. The project brings together client-side and server-side web programming in a practical campus use case.</a:t>
            </a:r>
          </a:p>
        </p:txBody>
      </p:sp>
      <p:sp>
        <p:nvSpPr>
          <p:cNvPr id="8" name="Rounded Rectangle 7"/>
          <p:cNvSpPr/>
          <p:nvPr/>
        </p:nvSpPr>
        <p:spPr>
          <a:xfrm>
            <a:off x="7818120" y="1417320"/>
            <a:ext cx="3520440" cy="3337560"/>
          </a:xfrm>
          <a:prstGeom prst="roundRect">
            <a:avLst>
              <a:gd name="adj" fmla="val 12000"/>
            </a:avLst>
          </a:prstGeom>
          <a:solidFill>
            <a:srgbClr val="1A2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38160" y="1755648"/>
            <a:ext cx="2880360" cy="274320"/>
          </a:xfrm>
          <a:prstGeom prst="rect">
            <a:avLst/>
          </a:prstGeom>
          <a:noFill/>
        </p:spPr>
        <p:txBody>
          <a:bodyPr wrap="square" lIns="45720" rIns="45720" anchor="t">
            <a:spAutoFit/>
          </a:bodyPr>
          <a:lstStyle/>
          <a:p>
            <a:pPr algn="l">
              <a:spcAft>
                <a:spcPts val="0"/>
              </a:spcAft>
            </a:pPr>
            <a:r>
              <a:rPr sz="1200" b="1" i="0">
                <a:solidFill>
                  <a:srgbClr val="96DCD3"/>
                </a:solidFill>
                <a:latin typeface="Aptos"/>
              </a:rPr>
              <a:t>PROJECT IN ONE VIEW</a:t>
            </a:r>
          </a:p>
        </p:txBody>
      </p:sp>
      <p:sp>
        <p:nvSpPr>
          <p:cNvPr id="10" name="TextBox 9"/>
          <p:cNvSpPr txBox="1"/>
          <p:nvPr/>
        </p:nvSpPr>
        <p:spPr>
          <a:xfrm>
            <a:off x="8138160" y="2240280"/>
            <a:ext cx="1051560" cy="256032"/>
          </a:xfrm>
          <a:prstGeom prst="rect">
            <a:avLst/>
          </a:prstGeom>
          <a:noFill/>
        </p:spPr>
        <p:txBody>
          <a:bodyPr wrap="square" lIns="45720" rIns="45720" anchor="t">
            <a:spAutoFit/>
          </a:bodyPr>
          <a:lstStyle/>
          <a:p>
            <a:pPr algn="l">
              <a:spcAft>
                <a:spcPts val="0"/>
              </a:spcAft>
            </a:pPr>
            <a:r>
              <a:rPr sz="1100" b="1" i="0">
                <a:solidFill>
                  <a:srgbClr val="E2AE53"/>
                </a:solidFill>
                <a:latin typeface="Aptos"/>
              </a:rPr>
              <a:t>REPORT</a:t>
            </a:r>
          </a:p>
        </p:txBody>
      </p:sp>
      <p:sp>
        <p:nvSpPr>
          <p:cNvPr id="11" name="TextBox 10"/>
          <p:cNvSpPr txBox="1"/>
          <p:nvPr/>
        </p:nvSpPr>
        <p:spPr>
          <a:xfrm>
            <a:off x="9189720" y="2240280"/>
            <a:ext cx="1737360" cy="274320"/>
          </a:xfrm>
          <a:prstGeom prst="rect">
            <a:avLst/>
          </a:prstGeom>
          <a:noFill/>
        </p:spPr>
        <p:txBody>
          <a:bodyPr wrap="square" lIns="45720" rIns="45720" anchor="t">
            <a:spAutoFit/>
          </a:bodyPr>
          <a:lstStyle/>
          <a:p>
            <a:pPr algn="l">
              <a:spcAft>
                <a:spcPts val="0"/>
              </a:spcAft>
            </a:pPr>
            <a:r>
              <a:rPr sz="1300" b="0" i="0">
                <a:solidFill>
                  <a:srgbClr val="FFFFFF"/>
                </a:solidFill>
                <a:latin typeface="Aptos"/>
              </a:rPr>
              <a:t>Raise an issue</a:t>
            </a:r>
          </a:p>
        </p:txBody>
      </p:sp>
      <p:sp>
        <p:nvSpPr>
          <p:cNvPr id="12" name="TextBox 11"/>
          <p:cNvSpPr txBox="1"/>
          <p:nvPr/>
        </p:nvSpPr>
        <p:spPr>
          <a:xfrm>
            <a:off x="8138160" y="2807208"/>
            <a:ext cx="1051560" cy="256032"/>
          </a:xfrm>
          <a:prstGeom prst="rect">
            <a:avLst/>
          </a:prstGeom>
          <a:noFill/>
        </p:spPr>
        <p:txBody>
          <a:bodyPr wrap="square" lIns="45720" rIns="45720" anchor="t">
            <a:spAutoFit/>
          </a:bodyPr>
          <a:lstStyle/>
          <a:p>
            <a:pPr algn="l">
              <a:spcAft>
                <a:spcPts val="0"/>
              </a:spcAft>
            </a:pPr>
            <a:r>
              <a:rPr sz="1100" b="1" i="0">
                <a:solidFill>
                  <a:srgbClr val="E2AE53"/>
                </a:solidFill>
                <a:latin typeface="Aptos"/>
              </a:rPr>
              <a:t>TRACK</a:t>
            </a:r>
          </a:p>
        </p:txBody>
      </p:sp>
      <p:sp>
        <p:nvSpPr>
          <p:cNvPr id="13" name="TextBox 12"/>
          <p:cNvSpPr txBox="1"/>
          <p:nvPr/>
        </p:nvSpPr>
        <p:spPr>
          <a:xfrm>
            <a:off x="9189720" y="2807208"/>
            <a:ext cx="1737360" cy="274320"/>
          </a:xfrm>
          <a:prstGeom prst="rect">
            <a:avLst/>
          </a:prstGeom>
          <a:noFill/>
        </p:spPr>
        <p:txBody>
          <a:bodyPr wrap="square" lIns="45720" rIns="45720" anchor="t">
            <a:spAutoFit/>
          </a:bodyPr>
          <a:lstStyle/>
          <a:p>
            <a:pPr algn="l">
              <a:spcAft>
                <a:spcPts val="0"/>
              </a:spcAft>
            </a:pPr>
            <a:r>
              <a:rPr sz="1300" b="0" i="0">
                <a:solidFill>
                  <a:srgbClr val="FFFFFF"/>
                </a:solidFill>
                <a:latin typeface="Aptos"/>
              </a:rPr>
              <a:t>Check progress</a:t>
            </a:r>
          </a:p>
        </p:txBody>
      </p:sp>
      <p:sp>
        <p:nvSpPr>
          <p:cNvPr id="14" name="TextBox 13"/>
          <p:cNvSpPr txBox="1"/>
          <p:nvPr/>
        </p:nvSpPr>
        <p:spPr>
          <a:xfrm>
            <a:off x="8138160" y="3374136"/>
            <a:ext cx="1051560" cy="256032"/>
          </a:xfrm>
          <a:prstGeom prst="rect">
            <a:avLst/>
          </a:prstGeom>
          <a:noFill/>
        </p:spPr>
        <p:txBody>
          <a:bodyPr wrap="square" lIns="45720" rIns="45720" anchor="t">
            <a:spAutoFit/>
          </a:bodyPr>
          <a:lstStyle/>
          <a:p>
            <a:pPr algn="l">
              <a:spcAft>
                <a:spcPts val="0"/>
              </a:spcAft>
            </a:pPr>
            <a:r>
              <a:rPr sz="1100" b="1" i="0">
                <a:solidFill>
                  <a:srgbClr val="E2AE53"/>
                </a:solidFill>
                <a:latin typeface="Aptos"/>
              </a:rPr>
              <a:t>MANAGE</a:t>
            </a:r>
          </a:p>
        </p:txBody>
      </p:sp>
      <p:sp>
        <p:nvSpPr>
          <p:cNvPr id="15" name="TextBox 14"/>
          <p:cNvSpPr txBox="1"/>
          <p:nvPr/>
        </p:nvSpPr>
        <p:spPr>
          <a:xfrm>
            <a:off x="9189720" y="3374136"/>
            <a:ext cx="1737360" cy="274320"/>
          </a:xfrm>
          <a:prstGeom prst="rect">
            <a:avLst/>
          </a:prstGeom>
          <a:noFill/>
        </p:spPr>
        <p:txBody>
          <a:bodyPr wrap="square" lIns="45720" rIns="45720" anchor="t">
            <a:spAutoFit/>
          </a:bodyPr>
          <a:lstStyle/>
          <a:p>
            <a:pPr algn="l">
              <a:spcAft>
                <a:spcPts val="0"/>
              </a:spcAft>
            </a:pPr>
            <a:r>
              <a:rPr sz="1300" b="0" i="0">
                <a:solidFill>
                  <a:srgbClr val="FFFFFF"/>
                </a:solidFill>
                <a:latin typeface="Aptos"/>
              </a:rPr>
              <a:t>Admin action</a:t>
            </a:r>
          </a:p>
        </p:txBody>
      </p:sp>
      <p:sp>
        <p:nvSpPr>
          <p:cNvPr id="16" name="TextBox 15"/>
          <p:cNvSpPr txBox="1"/>
          <p:nvPr/>
        </p:nvSpPr>
        <p:spPr>
          <a:xfrm>
            <a:off x="8138160" y="3941064"/>
            <a:ext cx="1051560" cy="256032"/>
          </a:xfrm>
          <a:prstGeom prst="rect">
            <a:avLst/>
          </a:prstGeom>
          <a:noFill/>
        </p:spPr>
        <p:txBody>
          <a:bodyPr wrap="square" lIns="45720" rIns="45720" anchor="t">
            <a:spAutoFit/>
          </a:bodyPr>
          <a:lstStyle/>
          <a:p>
            <a:pPr algn="l">
              <a:spcAft>
                <a:spcPts val="0"/>
              </a:spcAft>
            </a:pPr>
            <a:r>
              <a:rPr sz="1100" b="1" i="0">
                <a:solidFill>
                  <a:srgbClr val="E2AE53"/>
                </a:solidFill>
                <a:latin typeface="Aptos"/>
              </a:rPr>
              <a:t>REVIEW</a:t>
            </a:r>
          </a:p>
        </p:txBody>
      </p:sp>
      <p:sp>
        <p:nvSpPr>
          <p:cNvPr id="17" name="TextBox 16"/>
          <p:cNvSpPr txBox="1"/>
          <p:nvPr/>
        </p:nvSpPr>
        <p:spPr>
          <a:xfrm>
            <a:off x="9189720" y="3941064"/>
            <a:ext cx="1737360" cy="274320"/>
          </a:xfrm>
          <a:prstGeom prst="rect">
            <a:avLst/>
          </a:prstGeom>
          <a:noFill/>
        </p:spPr>
        <p:txBody>
          <a:bodyPr wrap="square" lIns="45720" rIns="45720" anchor="t">
            <a:spAutoFit/>
          </a:bodyPr>
          <a:lstStyle/>
          <a:p>
            <a:pPr algn="l">
              <a:spcAft>
                <a:spcPts val="0"/>
              </a:spcAft>
            </a:pPr>
            <a:r>
              <a:rPr sz="1300" b="0" i="0">
                <a:solidFill>
                  <a:srgbClr val="FFFFFF"/>
                </a:solidFill>
                <a:latin typeface="Aptos"/>
              </a:rPr>
              <a:t>History &amp; feedback</a:t>
            </a:r>
          </a:p>
        </p:txBody>
      </p:sp>
      <p:sp>
        <p:nvSpPr>
          <p:cNvPr id="18" name="TextBox 17"/>
          <p:cNvSpPr txBox="1"/>
          <p:nvPr/>
        </p:nvSpPr>
        <p:spPr>
          <a:xfrm>
            <a:off x="822960" y="5257800"/>
            <a:ext cx="6400800" cy="320040"/>
          </a:xfrm>
          <a:prstGeom prst="rect">
            <a:avLst/>
          </a:prstGeom>
          <a:noFill/>
        </p:spPr>
        <p:txBody>
          <a:bodyPr wrap="square" lIns="45720" rIns="45720" anchor="t">
            <a:spAutoFit/>
          </a:bodyPr>
          <a:lstStyle/>
          <a:p>
            <a:pPr algn="l">
              <a:spcAft>
                <a:spcPts val="0"/>
              </a:spcAft>
            </a:pPr>
            <a:r>
              <a:rPr sz="1300" b="0" i="1">
                <a:solidFill>
                  <a:srgbClr val="647180"/>
                </a:solidFill>
                <a:latin typeface="Aptos"/>
              </a:rPr>
              <a:t>Current prototype storage: JSON file (db.json)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10789920" cy="475488"/>
          </a:xfrm>
          <a:prstGeom prst="rect">
            <a:avLst/>
          </a:prstGeom>
          <a:noFill/>
        </p:spPr>
        <p:txBody>
          <a:bodyPr wrap="square" lIns="45720" rIns="45720" anchor="t">
            <a:spAutoFit/>
          </a:bodyPr>
          <a:lstStyle/>
          <a:p>
            <a:pPr algn="l">
              <a:spcAft>
                <a:spcPts val="0"/>
              </a:spcAft>
            </a:pPr>
            <a:r>
              <a:rPr sz="2400" b="1" i="0">
                <a:solidFill>
                  <a:srgbClr val="1A2B43"/>
                </a:solidFill>
                <a:latin typeface="Aptos"/>
              </a:rPr>
              <a:t>PROJECT OBJECTIVES</a:t>
            </a:r>
          </a:p>
        </p:txBody>
      </p:sp>
      <p:cxnSp>
        <p:nvCxnSpPr>
          <p:cNvPr id="4" name="Connector 3"/>
          <p:cNvCxnSpPr/>
          <p:nvPr/>
        </p:nvCxnSpPr>
        <p:spPr>
          <a:xfrm>
            <a:off x="530352" y="932688"/>
            <a:ext cx="11128248" cy="0"/>
          </a:xfrm>
          <a:prstGeom prst="line">
            <a:avLst/>
          </a:prstGeom>
          <a:ln w="12700">
            <a:solidFill>
              <a:srgbClr val="DDE3E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9672"/>
            <a:ext cx="9875520" cy="182880"/>
          </a:xfrm>
          <a:prstGeom prst="rect">
            <a:avLst/>
          </a:prstGeom>
          <a:noFill/>
        </p:spPr>
        <p:txBody>
          <a:bodyPr wrap="square" lIns="0" tIns="0" rIns="0" bIns="0" anchor="t">
            <a:spAutoFit/>
          </a:bodyPr>
          <a:lstStyle/>
          <a:p>
            <a:pPr algn="l">
              <a:spcAft>
                <a:spcPts val="0"/>
              </a:spcAft>
            </a:pPr>
            <a:r>
              <a:rPr sz="800" b="1" i="0">
                <a:solidFill>
                  <a:srgbClr val="647180"/>
                </a:solidFill>
                <a:latin typeface="Aptos"/>
              </a:rPr>
              <a:t>CAMPUS COMPLAINT &amp; ISSUE TRACKING SYSTEM  •  WEB PROGRAMMING</a:t>
            </a:r>
          </a:p>
        </p:txBody>
      </p:sp>
      <p:sp>
        <p:nvSpPr>
          <p:cNvPr id="6" name="TextBox 5"/>
          <p:cNvSpPr txBox="1"/>
          <p:nvPr/>
        </p:nvSpPr>
        <p:spPr>
          <a:xfrm>
            <a:off x="11201400" y="6492240"/>
            <a:ext cx="457200" cy="228600"/>
          </a:xfrm>
          <a:prstGeom prst="rect">
            <a:avLst/>
          </a:prstGeom>
          <a:noFill/>
        </p:spPr>
        <p:txBody>
          <a:bodyPr wrap="square" lIns="0" tIns="0" rIns="0" bIns="0" anchor="t">
            <a:spAutoFit/>
          </a:bodyPr>
          <a:lstStyle/>
          <a:p>
            <a:pPr algn="r">
              <a:spcAft>
                <a:spcPts val="0"/>
              </a:spcAft>
            </a:pPr>
            <a:r>
              <a:rPr sz="900" b="1" i="0">
                <a:solidFill>
                  <a:srgbClr val="238487"/>
                </a:solidFill>
                <a:latin typeface="Aptos"/>
              </a:rPr>
              <a:t>05</a:t>
            </a:r>
          </a:p>
        </p:txBody>
      </p:sp>
      <p:sp>
        <p:nvSpPr>
          <p:cNvPr id="7" name="Rounded Rectangle 6"/>
          <p:cNvSpPr/>
          <p:nvPr/>
        </p:nvSpPr>
        <p:spPr>
          <a:xfrm>
            <a:off x="685800" y="1325880"/>
            <a:ext cx="3520440" cy="1828800"/>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325880"/>
            <a:ext cx="73152" cy="1828800"/>
          </a:xfrm>
          <a:prstGeom prst="roundRect">
            <a:avLst>
              <a:gd name="adj" fmla="val 12000"/>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490472"/>
            <a:ext cx="3154680" cy="329184"/>
          </a:xfrm>
          <a:prstGeom prst="rect">
            <a:avLst/>
          </a:prstGeom>
          <a:noFill/>
        </p:spPr>
        <p:txBody>
          <a:bodyPr wrap="square" lIns="45720" rIns="45720" anchor="t">
            <a:spAutoFit/>
          </a:bodyPr>
          <a:lstStyle/>
          <a:p>
            <a:pPr algn="l">
              <a:spcAft>
                <a:spcPts val="0"/>
              </a:spcAft>
            </a:pPr>
            <a:r>
              <a:rPr sz="1700" b="1" i="0">
                <a:solidFill>
                  <a:srgbClr val="1A2B43"/>
                </a:solidFill>
                <a:latin typeface="Aptos"/>
              </a:rPr>
              <a:t>User access</a:t>
            </a:r>
          </a:p>
        </p:txBody>
      </p:sp>
      <p:sp>
        <p:nvSpPr>
          <p:cNvPr id="10" name="TextBox 9"/>
          <p:cNvSpPr txBox="1"/>
          <p:nvPr/>
        </p:nvSpPr>
        <p:spPr>
          <a:xfrm>
            <a:off x="886968" y="1920240"/>
            <a:ext cx="3136392" cy="1115568"/>
          </a:xfrm>
          <a:prstGeom prst="rect">
            <a:avLst/>
          </a:prstGeom>
          <a:noFill/>
        </p:spPr>
        <p:txBody>
          <a:bodyPr wrap="square" lIns="45720" rIns="45720" anchor="t">
            <a:spAutoFit/>
          </a:bodyPr>
          <a:lstStyle/>
          <a:p>
            <a:pPr algn="l">
              <a:spcAft>
                <a:spcPts val="0"/>
              </a:spcAft>
            </a:pPr>
            <a:r>
              <a:rPr sz="1400" b="0" i="0">
                <a:solidFill>
                  <a:srgbClr val="27313D"/>
                </a:solidFill>
                <a:latin typeface="Aptos"/>
              </a:rPr>
              <a:t>Signup and login pages help users enter the application.</a:t>
            </a:r>
          </a:p>
        </p:txBody>
      </p:sp>
      <p:sp>
        <p:nvSpPr>
          <p:cNvPr id="11" name="Rounded Rectangle 10"/>
          <p:cNvSpPr/>
          <p:nvPr/>
        </p:nvSpPr>
        <p:spPr>
          <a:xfrm>
            <a:off x="4343400" y="1325880"/>
            <a:ext cx="3520440" cy="1828800"/>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343400" y="1325880"/>
            <a:ext cx="73152" cy="1828800"/>
          </a:xfrm>
          <a:prstGeom prst="roundRect">
            <a:avLst>
              <a:gd name="adj" fmla="val 12000"/>
            </a:avLst>
          </a:prstGeom>
          <a:solidFill>
            <a:srgbClr val="4F7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44568" y="1490472"/>
            <a:ext cx="3154680" cy="329184"/>
          </a:xfrm>
          <a:prstGeom prst="rect">
            <a:avLst/>
          </a:prstGeom>
          <a:noFill/>
        </p:spPr>
        <p:txBody>
          <a:bodyPr wrap="square" lIns="45720" rIns="45720" anchor="t">
            <a:spAutoFit/>
          </a:bodyPr>
          <a:lstStyle/>
          <a:p>
            <a:pPr algn="l">
              <a:spcAft>
                <a:spcPts val="0"/>
              </a:spcAft>
            </a:pPr>
            <a:r>
              <a:rPr sz="1700" b="1" i="0">
                <a:solidFill>
                  <a:srgbClr val="1A2B43"/>
                </a:solidFill>
                <a:latin typeface="Aptos"/>
              </a:rPr>
              <a:t>Complaint workflow</a:t>
            </a:r>
          </a:p>
        </p:txBody>
      </p:sp>
      <p:sp>
        <p:nvSpPr>
          <p:cNvPr id="14" name="TextBox 13"/>
          <p:cNvSpPr txBox="1"/>
          <p:nvPr/>
        </p:nvSpPr>
        <p:spPr>
          <a:xfrm>
            <a:off x="4544568" y="1920240"/>
            <a:ext cx="3136392" cy="1115568"/>
          </a:xfrm>
          <a:prstGeom prst="rect">
            <a:avLst/>
          </a:prstGeom>
          <a:noFill/>
        </p:spPr>
        <p:txBody>
          <a:bodyPr wrap="square" lIns="45720" rIns="45720" anchor="t">
            <a:spAutoFit/>
          </a:bodyPr>
          <a:lstStyle/>
          <a:p>
            <a:pPr algn="l">
              <a:spcAft>
                <a:spcPts val="0"/>
              </a:spcAft>
            </a:pPr>
            <a:r>
              <a:rPr sz="1400" b="0" i="0">
                <a:solidFill>
                  <a:srgbClr val="27313D"/>
                </a:solidFill>
                <a:latin typeface="Aptos"/>
              </a:rPr>
              <a:t>Submit an issue with title, department, description and priority.</a:t>
            </a:r>
          </a:p>
        </p:txBody>
      </p:sp>
      <p:sp>
        <p:nvSpPr>
          <p:cNvPr id="15" name="Rounded Rectangle 14"/>
          <p:cNvSpPr/>
          <p:nvPr/>
        </p:nvSpPr>
        <p:spPr>
          <a:xfrm>
            <a:off x="8001000" y="1325880"/>
            <a:ext cx="3520440" cy="1828800"/>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001000" y="1325880"/>
            <a:ext cx="73152" cy="1828800"/>
          </a:xfrm>
          <a:prstGeom prst="roundRect">
            <a:avLst>
              <a:gd name="adj" fmla="val 12000"/>
            </a:avLst>
          </a:prstGeom>
          <a:solidFill>
            <a:srgbClr val="E2A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02168" y="1490472"/>
            <a:ext cx="3154680" cy="329184"/>
          </a:xfrm>
          <a:prstGeom prst="rect">
            <a:avLst/>
          </a:prstGeom>
          <a:noFill/>
        </p:spPr>
        <p:txBody>
          <a:bodyPr wrap="square" lIns="45720" rIns="45720" anchor="t">
            <a:spAutoFit/>
          </a:bodyPr>
          <a:lstStyle/>
          <a:p>
            <a:pPr algn="l">
              <a:spcAft>
                <a:spcPts val="0"/>
              </a:spcAft>
            </a:pPr>
            <a:r>
              <a:rPr sz="1700" b="1" i="0">
                <a:solidFill>
                  <a:srgbClr val="1A2B43"/>
                </a:solidFill>
                <a:latin typeface="Aptos"/>
              </a:rPr>
              <a:t>Admin workflow</a:t>
            </a:r>
          </a:p>
        </p:txBody>
      </p:sp>
      <p:sp>
        <p:nvSpPr>
          <p:cNvPr id="18" name="TextBox 17"/>
          <p:cNvSpPr txBox="1"/>
          <p:nvPr/>
        </p:nvSpPr>
        <p:spPr>
          <a:xfrm>
            <a:off x="8202168" y="1920240"/>
            <a:ext cx="3136392" cy="1115568"/>
          </a:xfrm>
          <a:prstGeom prst="rect">
            <a:avLst/>
          </a:prstGeom>
          <a:noFill/>
        </p:spPr>
        <p:txBody>
          <a:bodyPr wrap="square" lIns="45720" rIns="45720" anchor="t">
            <a:spAutoFit/>
          </a:bodyPr>
          <a:lstStyle/>
          <a:p>
            <a:pPr algn="l">
              <a:spcAft>
                <a:spcPts val="0"/>
              </a:spcAft>
            </a:pPr>
            <a:r>
              <a:rPr sz="1400" b="0" i="0">
                <a:solidFill>
                  <a:srgbClr val="27313D"/>
                </a:solidFill>
                <a:latin typeface="Aptos"/>
              </a:rPr>
              <a:t>View complaints, review urgency and update resolution status.</a:t>
            </a:r>
          </a:p>
        </p:txBody>
      </p:sp>
      <p:sp>
        <p:nvSpPr>
          <p:cNvPr id="19" name="Rounded Rectangle 18"/>
          <p:cNvSpPr/>
          <p:nvPr/>
        </p:nvSpPr>
        <p:spPr>
          <a:xfrm>
            <a:off x="685800" y="3520440"/>
            <a:ext cx="3520440" cy="1828800"/>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85800" y="3520440"/>
            <a:ext cx="73152" cy="1828800"/>
          </a:xfrm>
          <a:prstGeom prst="roundRect">
            <a:avLst>
              <a:gd name="adj" fmla="val 12000"/>
            </a:avLst>
          </a:prstGeom>
          <a:solidFill>
            <a:srgbClr val="4591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86968" y="3685032"/>
            <a:ext cx="3154680" cy="329184"/>
          </a:xfrm>
          <a:prstGeom prst="rect">
            <a:avLst/>
          </a:prstGeom>
          <a:noFill/>
        </p:spPr>
        <p:txBody>
          <a:bodyPr wrap="square" lIns="45720" rIns="45720" anchor="t">
            <a:spAutoFit/>
          </a:bodyPr>
          <a:lstStyle/>
          <a:p>
            <a:pPr algn="l">
              <a:spcAft>
                <a:spcPts val="0"/>
              </a:spcAft>
            </a:pPr>
            <a:r>
              <a:rPr sz="1700" b="1" i="0">
                <a:solidFill>
                  <a:srgbClr val="1A2B43"/>
                </a:solidFill>
                <a:latin typeface="Aptos"/>
              </a:rPr>
              <a:t>Monitoring</a:t>
            </a:r>
          </a:p>
        </p:txBody>
      </p:sp>
      <p:sp>
        <p:nvSpPr>
          <p:cNvPr id="22" name="TextBox 21"/>
          <p:cNvSpPr txBox="1"/>
          <p:nvPr/>
        </p:nvSpPr>
        <p:spPr>
          <a:xfrm>
            <a:off x="886968" y="4114800"/>
            <a:ext cx="3136392" cy="1115568"/>
          </a:xfrm>
          <a:prstGeom prst="rect">
            <a:avLst/>
          </a:prstGeom>
          <a:noFill/>
        </p:spPr>
        <p:txBody>
          <a:bodyPr wrap="square" lIns="45720" rIns="45720" anchor="t">
            <a:spAutoFit/>
          </a:bodyPr>
          <a:lstStyle/>
          <a:p>
            <a:pPr algn="l">
              <a:spcAft>
                <a:spcPts val="0"/>
              </a:spcAft>
            </a:pPr>
            <a:r>
              <a:rPr sz="1400" b="0" i="0">
                <a:solidFill>
                  <a:srgbClr val="27313D"/>
                </a:solidFill>
                <a:latin typeface="Aptos"/>
              </a:rPr>
              <a:t>Display complaint details, dates, status and deadline information.</a:t>
            </a:r>
          </a:p>
        </p:txBody>
      </p:sp>
      <p:sp>
        <p:nvSpPr>
          <p:cNvPr id="23" name="Rounded Rectangle 22"/>
          <p:cNvSpPr/>
          <p:nvPr/>
        </p:nvSpPr>
        <p:spPr>
          <a:xfrm>
            <a:off x="4343400" y="3520440"/>
            <a:ext cx="3520440" cy="1828800"/>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4343400" y="3520440"/>
            <a:ext cx="73152" cy="1828800"/>
          </a:xfrm>
          <a:prstGeom prst="roundRect">
            <a:avLst>
              <a:gd name="adj" fmla="val 12000"/>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44568" y="3685032"/>
            <a:ext cx="3154680" cy="329184"/>
          </a:xfrm>
          <a:prstGeom prst="rect">
            <a:avLst/>
          </a:prstGeom>
          <a:noFill/>
        </p:spPr>
        <p:txBody>
          <a:bodyPr wrap="square" lIns="45720" rIns="45720" anchor="t">
            <a:spAutoFit/>
          </a:bodyPr>
          <a:lstStyle/>
          <a:p>
            <a:pPr algn="l">
              <a:spcAft>
                <a:spcPts val="0"/>
              </a:spcAft>
            </a:pPr>
            <a:r>
              <a:rPr sz="1700" b="1" i="0">
                <a:solidFill>
                  <a:srgbClr val="1A2B43"/>
                </a:solidFill>
                <a:latin typeface="Aptos"/>
              </a:rPr>
              <a:t>Feedback</a:t>
            </a:r>
          </a:p>
        </p:txBody>
      </p:sp>
      <p:sp>
        <p:nvSpPr>
          <p:cNvPr id="26" name="TextBox 25"/>
          <p:cNvSpPr txBox="1"/>
          <p:nvPr/>
        </p:nvSpPr>
        <p:spPr>
          <a:xfrm>
            <a:off x="4544568" y="4114800"/>
            <a:ext cx="3136392" cy="1115568"/>
          </a:xfrm>
          <a:prstGeom prst="rect">
            <a:avLst/>
          </a:prstGeom>
          <a:noFill/>
        </p:spPr>
        <p:txBody>
          <a:bodyPr wrap="square" lIns="45720" rIns="45720" anchor="t">
            <a:spAutoFit/>
          </a:bodyPr>
          <a:lstStyle/>
          <a:p>
            <a:pPr algn="l">
              <a:spcAft>
                <a:spcPts val="0"/>
              </a:spcAft>
            </a:pPr>
            <a:r>
              <a:rPr sz="1400" b="0" i="0">
                <a:solidFill>
                  <a:srgbClr val="27313D"/>
                </a:solidFill>
                <a:latin typeface="Aptos"/>
              </a:rPr>
              <a:t>Collect feedback from students and faculty through separate forms.</a:t>
            </a:r>
          </a:p>
        </p:txBody>
      </p:sp>
      <p:sp>
        <p:nvSpPr>
          <p:cNvPr id="27" name="Rounded Rectangle 26"/>
          <p:cNvSpPr/>
          <p:nvPr/>
        </p:nvSpPr>
        <p:spPr>
          <a:xfrm>
            <a:off x="8001000" y="3520440"/>
            <a:ext cx="3520440" cy="1828800"/>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001000" y="3520440"/>
            <a:ext cx="73152" cy="1828800"/>
          </a:xfrm>
          <a:prstGeom prst="roundRect">
            <a:avLst>
              <a:gd name="adj" fmla="val 12000"/>
            </a:avLst>
          </a:prstGeom>
          <a:solidFill>
            <a:srgbClr val="4F7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02168" y="3685032"/>
            <a:ext cx="3154680" cy="329184"/>
          </a:xfrm>
          <a:prstGeom prst="rect">
            <a:avLst/>
          </a:prstGeom>
          <a:noFill/>
        </p:spPr>
        <p:txBody>
          <a:bodyPr wrap="square" lIns="45720" rIns="45720" anchor="t">
            <a:spAutoFit/>
          </a:bodyPr>
          <a:lstStyle/>
          <a:p>
            <a:pPr algn="l">
              <a:spcAft>
                <a:spcPts val="0"/>
              </a:spcAft>
            </a:pPr>
            <a:r>
              <a:rPr sz="1700" b="1" i="0">
                <a:solidFill>
                  <a:srgbClr val="1A2B43"/>
                </a:solidFill>
                <a:latin typeface="Aptos"/>
              </a:rPr>
              <a:t>Project learning</a:t>
            </a:r>
          </a:p>
        </p:txBody>
      </p:sp>
      <p:sp>
        <p:nvSpPr>
          <p:cNvPr id="30" name="TextBox 29"/>
          <p:cNvSpPr txBox="1"/>
          <p:nvPr/>
        </p:nvSpPr>
        <p:spPr>
          <a:xfrm>
            <a:off x="8202168" y="4114800"/>
            <a:ext cx="3136392" cy="1115568"/>
          </a:xfrm>
          <a:prstGeom prst="rect">
            <a:avLst/>
          </a:prstGeom>
          <a:noFill/>
        </p:spPr>
        <p:txBody>
          <a:bodyPr wrap="square" lIns="45720" rIns="45720" anchor="t">
            <a:spAutoFit/>
          </a:bodyPr>
          <a:lstStyle/>
          <a:p>
            <a:pPr algn="l">
              <a:spcAft>
                <a:spcPts val="0"/>
              </a:spcAft>
            </a:pPr>
            <a:r>
              <a:rPr sz="1400" b="0" i="0">
                <a:solidFill>
                  <a:srgbClr val="27313D"/>
                </a:solidFill>
                <a:latin typeface="Aptos"/>
              </a:rPr>
              <a:t>Demonstrate forms, DOM updates, events, fetch requests and server routes.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10789920" cy="475488"/>
          </a:xfrm>
          <a:prstGeom prst="rect">
            <a:avLst/>
          </a:prstGeom>
          <a:noFill/>
        </p:spPr>
        <p:txBody>
          <a:bodyPr wrap="square" lIns="45720" rIns="45720" anchor="t">
            <a:spAutoFit/>
          </a:bodyPr>
          <a:lstStyle/>
          <a:p>
            <a:pPr algn="l">
              <a:spcAft>
                <a:spcPts val="0"/>
              </a:spcAft>
            </a:pPr>
            <a:r>
              <a:rPr sz="2400" b="1" i="0">
                <a:solidFill>
                  <a:srgbClr val="1A2B43"/>
                </a:solidFill>
                <a:latin typeface="Aptos"/>
              </a:rPr>
              <a:t>PROBLEM STATEMENT</a:t>
            </a:r>
          </a:p>
        </p:txBody>
      </p:sp>
      <p:cxnSp>
        <p:nvCxnSpPr>
          <p:cNvPr id="4" name="Connector 3"/>
          <p:cNvCxnSpPr/>
          <p:nvPr/>
        </p:nvCxnSpPr>
        <p:spPr>
          <a:xfrm>
            <a:off x="530352" y="932688"/>
            <a:ext cx="11128248" cy="0"/>
          </a:xfrm>
          <a:prstGeom prst="line">
            <a:avLst/>
          </a:prstGeom>
          <a:ln w="12700">
            <a:solidFill>
              <a:srgbClr val="DDE3E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9672"/>
            <a:ext cx="9875520" cy="182880"/>
          </a:xfrm>
          <a:prstGeom prst="rect">
            <a:avLst/>
          </a:prstGeom>
          <a:noFill/>
        </p:spPr>
        <p:txBody>
          <a:bodyPr wrap="square" lIns="0" tIns="0" rIns="0" bIns="0" anchor="t">
            <a:spAutoFit/>
          </a:bodyPr>
          <a:lstStyle/>
          <a:p>
            <a:pPr algn="l">
              <a:spcAft>
                <a:spcPts val="0"/>
              </a:spcAft>
            </a:pPr>
            <a:r>
              <a:rPr sz="800" b="1" i="0">
                <a:solidFill>
                  <a:srgbClr val="647180"/>
                </a:solidFill>
                <a:latin typeface="Aptos"/>
              </a:rPr>
              <a:t>CAMPUS COMPLAINT &amp; ISSUE TRACKING SYSTEM  •  WEB PROGRAMMING</a:t>
            </a:r>
          </a:p>
        </p:txBody>
      </p:sp>
      <p:sp>
        <p:nvSpPr>
          <p:cNvPr id="6" name="TextBox 5"/>
          <p:cNvSpPr txBox="1"/>
          <p:nvPr/>
        </p:nvSpPr>
        <p:spPr>
          <a:xfrm>
            <a:off x="11201400" y="6492240"/>
            <a:ext cx="457200" cy="228600"/>
          </a:xfrm>
          <a:prstGeom prst="rect">
            <a:avLst/>
          </a:prstGeom>
          <a:noFill/>
        </p:spPr>
        <p:txBody>
          <a:bodyPr wrap="square" lIns="0" tIns="0" rIns="0" bIns="0" anchor="t">
            <a:spAutoFit/>
          </a:bodyPr>
          <a:lstStyle/>
          <a:p>
            <a:pPr algn="r">
              <a:spcAft>
                <a:spcPts val="0"/>
              </a:spcAft>
            </a:pPr>
            <a:r>
              <a:rPr sz="900" b="1" i="0">
                <a:solidFill>
                  <a:srgbClr val="238487"/>
                </a:solidFill>
                <a:latin typeface="Aptos"/>
              </a:rPr>
              <a:t>06</a:t>
            </a:r>
          </a:p>
        </p:txBody>
      </p:sp>
      <p:sp>
        <p:nvSpPr>
          <p:cNvPr id="7" name="TextBox 6"/>
          <p:cNvSpPr txBox="1"/>
          <p:nvPr/>
        </p:nvSpPr>
        <p:spPr>
          <a:xfrm>
            <a:off x="777240" y="1234440"/>
            <a:ext cx="10698480" cy="822960"/>
          </a:xfrm>
          <a:prstGeom prst="rect">
            <a:avLst/>
          </a:prstGeom>
          <a:noFill/>
        </p:spPr>
        <p:txBody>
          <a:bodyPr wrap="square" lIns="45720" rIns="45720" anchor="t">
            <a:spAutoFit/>
          </a:bodyPr>
          <a:lstStyle/>
          <a:p>
            <a:pPr algn="l">
              <a:spcAft>
                <a:spcPts val="0"/>
              </a:spcAft>
            </a:pPr>
            <a:r>
              <a:rPr sz="2000" b="1" i="0">
                <a:solidFill>
                  <a:srgbClr val="1A2B43"/>
                </a:solidFill>
                <a:latin typeface="Aptos"/>
              </a:rPr>
              <a:t>When campus issues are reported informally, it can be difficult to track who reported them, what action was taken and whether the issue has been resolved.</a:t>
            </a:r>
          </a:p>
        </p:txBody>
      </p:sp>
      <p:sp>
        <p:nvSpPr>
          <p:cNvPr id="8" name="Rounded Rectangle 7"/>
          <p:cNvSpPr/>
          <p:nvPr/>
        </p:nvSpPr>
        <p:spPr>
          <a:xfrm>
            <a:off x="777240" y="2423160"/>
            <a:ext cx="5120640" cy="1115568"/>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2569464"/>
            <a:ext cx="4663440" cy="274320"/>
          </a:xfrm>
          <a:prstGeom prst="rect">
            <a:avLst/>
          </a:prstGeom>
          <a:noFill/>
        </p:spPr>
        <p:txBody>
          <a:bodyPr wrap="square" lIns="45720" rIns="45720" anchor="t">
            <a:spAutoFit/>
          </a:bodyPr>
          <a:lstStyle/>
          <a:p>
            <a:pPr algn="l">
              <a:spcAft>
                <a:spcPts val="0"/>
              </a:spcAft>
            </a:pPr>
            <a:r>
              <a:rPr sz="1600" b="1" i="0">
                <a:solidFill>
                  <a:srgbClr val="1A2B43"/>
                </a:solidFill>
                <a:latin typeface="Aptos"/>
              </a:rPr>
              <a:t>Scattered reports</a:t>
            </a:r>
          </a:p>
        </p:txBody>
      </p:sp>
      <p:sp>
        <p:nvSpPr>
          <p:cNvPr id="10" name="TextBox 9"/>
          <p:cNvSpPr txBox="1"/>
          <p:nvPr/>
        </p:nvSpPr>
        <p:spPr>
          <a:xfrm>
            <a:off x="978408" y="2926080"/>
            <a:ext cx="4663440" cy="457200"/>
          </a:xfrm>
          <a:prstGeom prst="rect">
            <a:avLst/>
          </a:prstGeom>
          <a:noFill/>
        </p:spPr>
        <p:txBody>
          <a:bodyPr wrap="square" lIns="45720" rIns="45720" anchor="t">
            <a:spAutoFit/>
          </a:bodyPr>
          <a:lstStyle/>
          <a:p>
            <a:pPr algn="l">
              <a:spcAft>
                <a:spcPts val="0"/>
              </a:spcAft>
            </a:pPr>
            <a:r>
              <a:rPr sz="1300" b="0" i="0">
                <a:solidFill>
                  <a:srgbClr val="27313D"/>
                </a:solidFill>
                <a:latin typeface="Aptos"/>
              </a:rPr>
              <a:t>Complaints may arrive through verbal requests, messages or separate channels.</a:t>
            </a:r>
          </a:p>
        </p:txBody>
      </p:sp>
      <p:sp>
        <p:nvSpPr>
          <p:cNvPr id="11" name="Rounded Rectangle 10"/>
          <p:cNvSpPr/>
          <p:nvPr/>
        </p:nvSpPr>
        <p:spPr>
          <a:xfrm>
            <a:off x="6355079" y="2423160"/>
            <a:ext cx="5120640" cy="1115568"/>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56247" y="2569464"/>
            <a:ext cx="4663440" cy="274320"/>
          </a:xfrm>
          <a:prstGeom prst="rect">
            <a:avLst/>
          </a:prstGeom>
          <a:noFill/>
        </p:spPr>
        <p:txBody>
          <a:bodyPr wrap="square" lIns="45720" rIns="45720" anchor="t">
            <a:spAutoFit/>
          </a:bodyPr>
          <a:lstStyle/>
          <a:p>
            <a:pPr algn="l">
              <a:spcAft>
                <a:spcPts val="0"/>
              </a:spcAft>
            </a:pPr>
            <a:r>
              <a:rPr sz="1600" b="1" i="0">
                <a:solidFill>
                  <a:srgbClr val="1A2B43"/>
                </a:solidFill>
                <a:latin typeface="Aptos"/>
              </a:rPr>
              <a:t>Limited tracking</a:t>
            </a:r>
          </a:p>
        </p:txBody>
      </p:sp>
      <p:sp>
        <p:nvSpPr>
          <p:cNvPr id="13" name="TextBox 12"/>
          <p:cNvSpPr txBox="1"/>
          <p:nvPr/>
        </p:nvSpPr>
        <p:spPr>
          <a:xfrm>
            <a:off x="6556247" y="2926080"/>
            <a:ext cx="4663440" cy="457200"/>
          </a:xfrm>
          <a:prstGeom prst="rect">
            <a:avLst/>
          </a:prstGeom>
          <a:noFill/>
        </p:spPr>
        <p:txBody>
          <a:bodyPr wrap="square" lIns="45720" rIns="45720" anchor="t">
            <a:spAutoFit/>
          </a:bodyPr>
          <a:lstStyle/>
          <a:p>
            <a:pPr algn="l">
              <a:spcAft>
                <a:spcPts val="0"/>
              </a:spcAft>
            </a:pPr>
            <a:r>
              <a:rPr sz="1300" b="0" i="0">
                <a:solidFill>
                  <a:srgbClr val="27313D"/>
                </a:solidFill>
                <a:latin typeface="Aptos"/>
              </a:rPr>
              <a:t>Users may need to ask repeatedly for updates.</a:t>
            </a:r>
          </a:p>
        </p:txBody>
      </p:sp>
      <p:sp>
        <p:nvSpPr>
          <p:cNvPr id="14" name="Rounded Rectangle 13"/>
          <p:cNvSpPr/>
          <p:nvPr/>
        </p:nvSpPr>
        <p:spPr>
          <a:xfrm>
            <a:off x="777240" y="3886200"/>
            <a:ext cx="5120640" cy="1115568"/>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8408" y="4032504"/>
            <a:ext cx="4663440" cy="274320"/>
          </a:xfrm>
          <a:prstGeom prst="rect">
            <a:avLst/>
          </a:prstGeom>
          <a:noFill/>
        </p:spPr>
        <p:txBody>
          <a:bodyPr wrap="square" lIns="45720" rIns="45720" anchor="t">
            <a:spAutoFit/>
          </a:bodyPr>
          <a:lstStyle/>
          <a:p>
            <a:pPr algn="l">
              <a:spcAft>
                <a:spcPts val="0"/>
              </a:spcAft>
            </a:pPr>
            <a:r>
              <a:rPr sz="1600" b="1" i="0">
                <a:solidFill>
                  <a:srgbClr val="C0534C"/>
                </a:solidFill>
                <a:latin typeface="Aptos"/>
              </a:rPr>
              <a:t>Slow prioritisation</a:t>
            </a:r>
          </a:p>
        </p:txBody>
      </p:sp>
      <p:sp>
        <p:nvSpPr>
          <p:cNvPr id="16" name="TextBox 15"/>
          <p:cNvSpPr txBox="1"/>
          <p:nvPr/>
        </p:nvSpPr>
        <p:spPr>
          <a:xfrm>
            <a:off x="978408" y="4389120"/>
            <a:ext cx="4663440" cy="457200"/>
          </a:xfrm>
          <a:prstGeom prst="rect">
            <a:avLst/>
          </a:prstGeom>
          <a:noFill/>
        </p:spPr>
        <p:txBody>
          <a:bodyPr wrap="square" lIns="45720" rIns="45720" anchor="t">
            <a:spAutoFit/>
          </a:bodyPr>
          <a:lstStyle/>
          <a:p>
            <a:pPr algn="l">
              <a:spcAft>
                <a:spcPts val="0"/>
              </a:spcAft>
            </a:pPr>
            <a:r>
              <a:rPr sz="1300" b="0" i="0">
                <a:solidFill>
                  <a:srgbClr val="27313D"/>
                </a:solidFill>
                <a:latin typeface="Aptos"/>
              </a:rPr>
              <a:t>Urgent issues can be mixed with routine requests.</a:t>
            </a:r>
          </a:p>
        </p:txBody>
      </p:sp>
      <p:sp>
        <p:nvSpPr>
          <p:cNvPr id="17" name="Rounded Rectangle 16"/>
          <p:cNvSpPr/>
          <p:nvPr/>
        </p:nvSpPr>
        <p:spPr>
          <a:xfrm>
            <a:off x="6355079" y="3886200"/>
            <a:ext cx="5120640" cy="1115568"/>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56247" y="4032504"/>
            <a:ext cx="4663440" cy="274320"/>
          </a:xfrm>
          <a:prstGeom prst="rect">
            <a:avLst/>
          </a:prstGeom>
          <a:noFill/>
        </p:spPr>
        <p:txBody>
          <a:bodyPr wrap="square" lIns="45720" rIns="45720" anchor="t">
            <a:spAutoFit/>
          </a:bodyPr>
          <a:lstStyle/>
          <a:p>
            <a:pPr algn="l">
              <a:spcAft>
                <a:spcPts val="0"/>
              </a:spcAft>
            </a:pPr>
            <a:r>
              <a:rPr sz="1600" b="1" i="0">
                <a:solidFill>
                  <a:srgbClr val="1A2B43"/>
                </a:solidFill>
                <a:latin typeface="Aptos"/>
              </a:rPr>
              <a:t>Manual follow-up</a:t>
            </a:r>
          </a:p>
        </p:txBody>
      </p:sp>
      <p:sp>
        <p:nvSpPr>
          <p:cNvPr id="19" name="TextBox 18"/>
          <p:cNvSpPr txBox="1"/>
          <p:nvPr/>
        </p:nvSpPr>
        <p:spPr>
          <a:xfrm>
            <a:off x="6556247" y="4389120"/>
            <a:ext cx="4663440" cy="457200"/>
          </a:xfrm>
          <a:prstGeom prst="rect">
            <a:avLst/>
          </a:prstGeom>
          <a:noFill/>
        </p:spPr>
        <p:txBody>
          <a:bodyPr wrap="square" lIns="45720" rIns="45720" anchor="t">
            <a:spAutoFit/>
          </a:bodyPr>
          <a:lstStyle/>
          <a:p>
            <a:pPr algn="l">
              <a:spcAft>
                <a:spcPts val="0"/>
              </a:spcAft>
            </a:pPr>
            <a:r>
              <a:rPr sz="1300" b="0" i="0">
                <a:solidFill>
                  <a:srgbClr val="27313D"/>
                </a:solidFill>
                <a:latin typeface="Aptos"/>
              </a:rPr>
              <a:t>Administrators need a central list to review and update complaints.</a:t>
            </a:r>
          </a:p>
        </p:txBody>
      </p:sp>
      <p:sp>
        <p:nvSpPr>
          <p:cNvPr id="20" name="Rounded Rectangle 19"/>
          <p:cNvSpPr/>
          <p:nvPr/>
        </p:nvSpPr>
        <p:spPr>
          <a:xfrm>
            <a:off x="777240" y="5532120"/>
            <a:ext cx="10698480" cy="530352"/>
          </a:xfrm>
          <a:prstGeom prst="roundRect">
            <a:avLst>
              <a:gd name="adj" fmla="val 12000"/>
            </a:avLst>
          </a:prstGeom>
          <a:solidFill>
            <a:srgbClr val="DC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0120" y="5650992"/>
            <a:ext cx="10241280" cy="228600"/>
          </a:xfrm>
          <a:prstGeom prst="rect">
            <a:avLst/>
          </a:prstGeom>
          <a:noFill/>
        </p:spPr>
        <p:txBody>
          <a:bodyPr wrap="square" lIns="45720" rIns="45720" anchor="t">
            <a:spAutoFit/>
          </a:bodyPr>
          <a:lstStyle/>
          <a:p>
            <a:pPr algn="l">
              <a:spcAft>
                <a:spcPts val="0"/>
              </a:spcAft>
            </a:pPr>
            <a:r>
              <a:rPr sz="1400" b="1" i="0">
                <a:solidFill>
                  <a:srgbClr val="238487"/>
                </a:solidFill>
                <a:latin typeface="Aptos"/>
              </a:rPr>
              <a:t>Proposed solution: a centralized web portal for submitting, monitoring and managing campus complaints.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10789920" cy="475488"/>
          </a:xfrm>
          <a:prstGeom prst="rect">
            <a:avLst/>
          </a:prstGeom>
          <a:noFill/>
        </p:spPr>
        <p:txBody>
          <a:bodyPr wrap="square" lIns="45720" rIns="45720" anchor="t">
            <a:spAutoFit/>
          </a:bodyPr>
          <a:lstStyle/>
          <a:p>
            <a:pPr algn="l">
              <a:spcAft>
                <a:spcPts val="0"/>
              </a:spcAft>
            </a:pPr>
            <a:r>
              <a:rPr sz="2400" b="1" i="0">
                <a:solidFill>
                  <a:srgbClr val="1A2B43"/>
                </a:solidFill>
                <a:latin typeface="Aptos"/>
              </a:rPr>
              <a:t>HTML &amp; CSS IMPLEMENTATION</a:t>
            </a:r>
          </a:p>
        </p:txBody>
      </p:sp>
      <p:cxnSp>
        <p:nvCxnSpPr>
          <p:cNvPr id="4" name="Connector 3"/>
          <p:cNvCxnSpPr/>
          <p:nvPr/>
        </p:nvCxnSpPr>
        <p:spPr>
          <a:xfrm>
            <a:off x="530352" y="932688"/>
            <a:ext cx="11128248" cy="0"/>
          </a:xfrm>
          <a:prstGeom prst="line">
            <a:avLst/>
          </a:prstGeom>
          <a:ln w="12700">
            <a:solidFill>
              <a:srgbClr val="DDE3E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9672"/>
            <a:ext cx="9875520" cy="182880"/>
          </a:xfrm>
          <a:prstGeom prst="rect">
            <a:avLst/>
          </a:prstGeom>
          <a:noFill/>
        </p:spPr>
        <p:txBody>
          <a:bodyPr wrap="square" lIns="0" tIns="0" rIns="0" bIns="0" anchor="t">
            <a:spAutoFit/>
          </a:bodyPr>
          <a:lstStyle/>
          <a:p>
            <a:pPr algn="l">
              <a:spcAft>
                <a:spcPts val="0"/>
              </a:spcAft>
            </a:pPr>
            <a:r>
              <a:rPr sz="800" b="1" i="0">
                <a:solidFill>
                  <a:srgbClr val="647180"/>
                </a:solidFill>
                <a:latin typeface="Aptos"/>
              </a:rPr>
              <a:t>CAMPUS COMPLAINT &amp; ISSUE TRACKING SYSTEM  •  WEB PROGRAMMING</a:t>
            </a:r>
          </a:p>
        </p:txBody>
      </p:sp>
      <p:sp>
        <p:nvSpPr>
          <p:cNvPr id="6" name="TextBox 5"/>
          <p:cNvSpPr txBox="1"/>
          <p:nvPr/>
        </p:nvSpPr>
        <p:spPr>
          <a:xfrm>
            <a:off x="11201400" y="6492240"/>
            <a:ext cx="457200" cy="228600"/>
          </a:xfrm>
          <a:prstGeom prst="rect">
            <a:avLst/>
          </a:prstGeom>
          <a:noFill/>
        </p:spPr>
        <p:txBody>
          <a:bodyPr wrap="square" lIns="0" tIns="0" rIns="0" bIns="0" anchor="t">
            <a:spAutoFit/>
          </a:bodyPr>
          <a:lstStyle/>
          <a:p>
            <a:pPr algn="r">
              <a:spcAft>
                <a:spcPts val="0"/>
              </a:spcAft>
            </a:pPr>
            <a:r>
              <a:rPr sz="900" b="1" i="0">
                <a:solidFill>
                  <a:srgbClr val="238487"/>
                </a:solidFill>
                <a:latin typeface="Aptos"/>
              </a:rPr>
              <a:t>07</a:t>
            </a:r>
          </a:p>
        </p:txBody>
      </p:sp>
      <p:sp>
        <p:nvSpPr>
          <p:cNvPr id="7" name="Rounded Rectangle 6"/>
          <p:cNvSpPr/>
          <p:nvPr/>
        </p:nvSpPr>
        <p:spPr>
          <a:xfrm>
            <a:off x="685800" y="1280160"/>
            <a:ext cx="3657600" cy="4389120"/>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280160"/>
            <a:ext cx="73152" cy="4389120"/>
          </a:xfrm>
          <a:prstGeom prst="roundRect">
            <a:avLst>
              <a:gd name="adj" fmla="val 12000"/>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444751"/>
            <a:ext cx="3291840" cy="329184"/>
          </a:xfrm>
          <a:prstGeom prst="rect">
            <a:avLst/>
          </a:prstGeom>
          <a:noFill/>
        </p:spPr>
        <p:txBody>
          <a:bodyPr wrap="square" lIns="45720" rIns="45720" anchor="t">
            <a:spAutoFit/>
          </a:bodyPr>
          <a:lstStyle/>
          <a:p>
            <a:pPr algn="l">
              <a:spcAft>
                <a:spcPts val="0"/>
              </a:spcAft>
            </a:pPr>
            <a:r>
              <a:rPr sz="1700" b="1" i="0">
                <a:solidFill>
                  <a:srgbClr val="1A2B43"/>
                </a:solidFill>
                <a:latin typeface="Aptos"/>
              </a:rPr>
              <a:t>HTML — page structure</a:t>
            </a:r>
          </a:p>
        </p:txBody>
      </p:sp>
      <p:sp>
        <p:nvSpPr>
          <p:cNvPr id="10" name="TextBox 9"/>
          <p:cNvSpPr txBox="1"/>
          <p:nvPr/>
        </p:nvSpPr>
        <p:spPr>
          <a:xfrm>
            <a:off x="886968" y="1874519"/>
            <a:ext cx="3273552" cy="3675887"/>
          </a:xfrm>
          <a:prstGeom prst="rect">
            <a:avLst/>
          </a:prstGeom>
          <a:noFill/>
        </p:spPr>
        <p:txBody>
          <a:bodyPr wrap="square" lIns="45720" rIns="45720" anchor="t">
            <a:spAutoFit/>
          </a:bodyPr>
          <a:lstStyle/>
          <a:p>
            <a:pPr algn="l">
              <a:spcAft>
                <a:spcPts val="500"/>
              </a:spcAft>
            </a:pPr>
            <a:r>
              <a:rPr sz="1500" b="0" i="0">
                <a:solidFill>
                  <a:srgbClr val="27313D"/>
                </a:solidFill>
                <a:latin typeface="Aptos"/>
              </a:rPr>
              <a:t>• Login and signup forms</a:t>
            </a:r>
          </a:p>
          <a:p>
            <a:pPr algn="l">
              <a:spcAft>
                <a:spcPts val="500"/>
              </a:spcAft>
            </a:pPr>
            <a:endParaRPr sz="1500" b="0" i="0">
              <a:solidFill>
                <a:srgbClr val="27313D"/>
              </a:solidFill>
              <a:latin typeface="Aptos"/>
            </a:endParaRPr>
          </a:p>
          <a:p>
            <a:pPr algn="l">
              <a:spcAft>
                <a:spcPts val="500"/>
              </a:spcAft>
            </a:pPr>
            <a:r>
              <a:rPr sz="1500" b="0" i="0">
                <a:solidFill>
                  <a:srgbClr val="27313D"/>
                </a:solidFill>
                <a:latin typeface="Aptos"/>
              </a:rPr>
              <a:t>• Complaint submission form</a:t>
            </a:r>
          </a:p>
          <a:p>
            <a:pPr algn="l">
              <a:spcAft>
                <a:spcPts val="500"/>
              </a:spcAft>
            </a:pPr>
            <a:endParaRPr sz="1500" b="0" i="0">
              <a:solidFill>
                <a:srgbClr val="27313D"/>
              </a:solidFill>
              <a:latin typeface="Aptos"/>
            </a:endParaRPr>
          </a:p>
          <a:p>
            <a:pPr algn="l">
              <a:spcAft>
                <a:spcPts val="500"/>
              </a:spcAft>
            </a:pPr>
            <a:r>
              <a:rPr sz="1500" b="0" i="0">
                <a:solidFill>
                  <a:srgbClr val="27313D"/>
                </a:solidFill>
                <a:latin typeface="Aptos"/>
              </a:rPr>
              <a:t>• Dashboard cards and navigation</a:t>
            </a:r>
          </a:p>
          <a:p>
            <a:pPr algn="l">
              <a:spcAft>
                <a:spcPts val="500"/>
              </a:spcAft>
            </a:pPr>
            <a:endParaRPr sz="1500" b="0" i="0">
              <a:solidFill>
                <a:srgbClr val="27313D"/>
              </a:solidFill>
              <a:latin typeface="Aptos"/>
            </a:endParaRPr>
          </a:p>
          <a:p>
            <a:pPr algn="l">
              <a:spcAft>
                <a:spcPts val="500"/>
              </a:spcAft>
            </a:pPr>
            <a:r>
              <a:rPr sz="1500" b="0" i="0">
                <a:solidFill>
                  <a:srgbClr val="27313D"/>
                </a:solidFill>
                <a:latin typeface="Aptos"/>
              </a:rPr>
              <a:t>• Labels, inputs, select menus and buttons</a:t>
            </a:r>
          </a:p>
          <a:p>
            <a:pPr algn="l">
              <a:spcAft>
                <a:spcPts val="500"/>
              </a:spcAft>
            </a:pPr>
            <a:endParaRPr sz="1500" b="0" i="0">
              <a:solidFill>
                <a:srgbClr val="27313D"/>
              </a:solidFill>
              <a:latin typeface="Aptos"/>
            </a:endParaRPr>
          </a:p>
          <a:p>
            <a:pPr algn="l">
              <a:spcAft>
                <a:spcPts val="500"/>
              </a:spcAft>
            </a:pPr>
            <a:r>
              <a:rPr sz="1500" b="0" i="0">
                <a:solidFill>
                  <a:srgbClr val="27313D"/>
                </a:solidFill>
                <a:latin typeface="Aptos"/>
              </a:rPr>
              <a:t>• Separate pages for monitor, profile, history and feedback</a:t>
            </a:r>
          </a:p>
        </p:txBody>
      </p:sp>
      <p:sp>
        <p:nvSpPr>
          <p:cNvPr id="11" name="Rounded Rectangle 10"/>
          <p:cNvSpPr/>
          <p:nvPr/>
        </p:nvSpPr>
        <p:spPr>
          <a:xfrm>
            <a:off x="4526280" y="1280160"/>
            <a:ext cx="3017520" cy="4389120"/>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526280" y="1280160"/>
            <a:ext cx="73152" cy="4389120"/>
          </a:xfrm>
          <a:prstGeom prst="roundRect">
            <a:avLst>
              <a:gd name="adj" fmla="val 12000"/>
            </a:avLst>
          </a:prstGeom>
          <a:solidFill>
            <a:srgbClr val="4F7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27448" y="1444751"/>
            <a:ext cx="2651760" cy="329184"/>
          </a:xfrm>
          <a:prstGeom prst="rect">
            <a:avLst/>
          </a:prstGeom>
          <a:noFill/>
        </p:spPr>
        <p:txBody>
          <a:bodyPr wrap="square" lIns="45720" rIns="45720" anchor="t">
            <a:spAutoFit/>
          </a:bodyPr>
          <a:lstStyle/>
          <a:p>
            <a:pPr algn="l">
              <a:spcAft>
                <a:spcPts val="0"/>
              </a:spcAft>
            </a:pPr>
            <a:r>
              <a:rPr sz="1700" b="1" i="0">
                <a:solidFill>
                  <a:srgbClr val="1A2B43"/>
                </a:solidFill>
                <a:latin typeface="Aptos"/>
              </a:rPr>
              <a:t>CSS — visual design</a:t>
            </a:r>
          </a:p>
        </p:txBody>
      </p:sp>
      <p:sp>
        <p:nvSpPr>
          <p:cNvPr id="14" name="TextBox 13"/>
          <p:cNvSpPr txBox="1"/>
          <p:nvPr/>
        </p:nvSpPr>
        <p:spPr>
          <a:xfrm>
            <a:off x="4727448" y="1874519"/>
            <a:ext cx="2633472" cy="3675887"/>
          </a:xfrm>
          <a:prstGeom prst="rect">
            <a:avLst/>
          </a:prstGeom>
          <a:noFill/>
        </p:spPr>
        <p:txBody>
          <a:bodyPr wrap="square" lIns="45720" rIns="45720" anchor="t">
            <a:spAutoFit/>
          </a:bodyPr>
          <a:lstStyle/>
          <a:p>
            <a:pPr algn="l">
              <a:spcAft>
                <a:spcPts val="500"/>
              </a:spcAft>
            </a:pPr>
            <a:r>
              <a:rPr sz="1500" b="0" i="0">
                <a:solidFill>
                  <a:srgbClr val="27313D"/>
                </a:solidFill>
                <a:latin typeface="Aptos"/>
              </a:rPr>
              <a:t>• Consistent colors and typography</a:t>
            </a:r>
          </a:p>
          <a:p>
            <a:pPr algn="l">
              <a:spcAft>
                <a:spcPts val="500"/>
              </a:spcAft>
            </a:pPr>
            <a:endParaRPr sz="1500" b="0" i="0">
              <a:solidFill>
                <a:srgbClr val="27313D"/>
              </a:solidFill>
              <a:latin typeface="Aptos"/>
            </a:endParaRPr>
          </a:p>
          <a:p>
            <a:pPr algn="l">
              <a:spcAft>
                <a:spcPts val="500"/>
              </a:spcAft>
            </a:pPr>
            <a:r>
              <a:rPr sz="1500" b="0" i="0">
                <a:solidFill>
                  <a:srgbClr val="27313D"/>
                </a:solidFill>
                <a:latin typeface="Aptos"/>
              </a:rPr>
              <a:t>• Layouts for cards and forms</a:t>
            </a:r>
          </a:p>
          <a:p>
            <a:pPr algn="l">
              <a:spcAft>
                <a:spcPts val="500"/>
              </a:spcAft>
            </a:pPr>
            <a:endParaRPr sz="1500" b="0" i="0">
              <a:solidFill>
                <a:srgbClr val="27313D"/>
              </a:solidFill>
              <a:latin typeface="Aptos"/>
            </a:endParaRPr>
          </a:p>
          <a:p>
            <a:pPr algn="l">
              <a:spcAft>
                <a:spcPts val="500"/>
              </a:spcAft>
            </a:pPr>
            <a:r>
              <a:rPr sz="1500" b="0" i="0">
                <a:solidFill>
                  <a:srgbClr val="27313D"/>
                </a:solidFill>
                <a:latin typeface="Aptos"/>
              </a:rPr>
              <a:t>• Spacing, borders and button styles</a:t>
            </a:r>
          </a:p>
          <a:p>
            <a:pPr algn="l">
              <a:spcAft>
                <a:spcPts val="500"/>
              </a:spcAft>
            </a:pPr>
            <a:endParaRPr sz="1500" b="0" i="0">
              <a:solidFill>
                <a:srgbClr val="27313D"/>
              </a:solidFill>
              <a:latin typeface="Aptos"/>
            </a:endParaRPr>
          </a:p>
          <a:p>
            <a:pPr algn="l">
              <a:spcAft>
                <a:spcPts val="500"/>
              </a:spcAft>
            </a:pPr>
            <a:r>
              <a:rPr sz="1500" b="0" i="0">
                <a:solidFill>
                  <a:srgbClr val="27313D"/>
                </a:solidFill>
                <a:latin typeface="Aptos"/>
              </a:rPr>
              <a:t>• Responsive page presentation</a:t>
            </a:r>
          </a:p>
          <a:p>
            <a:pPr algn="l">
              <a:spcAft>
                <a:spcPts val="500"/>
              </a:spcAft>
            </a:pPr>
            <a:endParaRPr sz="1500" b="0" i="0">
              <a:solidFill>
                <a:srgbClr val="27313D"/>
              </a:solidFill>
              <a:latin typeface="Aptos"/>
            </a:endParaRPr>
          </a:p>
          <a:p>
            <a:pPr algn="l">
              <a:spcAft>
                <a:spcPts val="500"/>
              </a:spcAft>
            </a:pPr>
            <a:r>
              <a:rPr sz="1500" b="0" i="0">
                <a:solidFill>
                  <a:srgbClr val="27313D"/>
                </a:solidFill>
                <a:latin typeface="Aptos"/>
              </a:rPr>
              <a:t>• Hover effects and visual status cues</a:t>
            </a:r>
          </a:p>
        </p:txBody>
      </p:sp>
      <p:sp>
        <p:nvSpPr>
          <p:cNvPr id="15" name="Rounded Rectangle 14"/>
          <p:cNvSpPr/>
          <p:nvPr/>
        </p:nvSpPr>
        <p:spPr>
          <a:xfrm>
            <a:off x="7772400" y="1280160"/>
            <a:ext cx="3611880" cy="4389120"/>
          </a:xfrm>
          <a:prstGeom prst="roundRect">
            <a:avLst>
              <a:gd name="adj" fmla="val 12000"/>
            </a:avLst>
          </a:prstGeom>
          <a:solidFill>
            <a:srgbClr val="1A2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46720" y="1600200"/>
            <a:ext cx="3063240" cy="411480"/>
          </a:xfrm>
          <a:prstGeom prst="rect">
            <a:avLst/>
          </a:prstGeom>
          <a:noFill/>
        </p:spPr>
        <p:txBody>
          <a:bodyPr wrap="square" lIns="45720" rIns="45720" anchor="t">
            <a:spAutoFit/>
          </a:bodyPr>
          <a:lstStyle/>
          <a:p>
            <a:pPr algn="l">
              <a:spcAft>
                <a:spcPts val="0"/>
              </a:spcAft>
            </a:pPr>
            <a:r>
              <a:rPr sz="1300" b="1" i="0">
                <a:solidFill>
                  <a:srgbClr val="96DCD3"/>
                </a:solidFill>
                <a:latin typeface="Aptos"/>
              </a:rPr>
              <a:t>EXAMPLE: COMPLAINT FORM</a:t>
            </a:r>
          </a:p>
        </p:txBody>
      </p:sp>
      <p:sp>
        <p:nvSpPr>
          <p:cNvPr id="17" name="TextBox 16"/>
          <p:cNvSpPr txBox="1"/>
          <p:nvPr/>
        </p:nvSpPr>
        <p:spPr>
          <a:xfrm>
            <a:off x="8065008" y="2176272"/>
            <a:ext cx="2971800" cy="2697480"/>
          </a:xfrm>
          <a:prstGeom prst="rect">
            <a:avLst/>
          </a:prstGeom>
          <a:noFill/>
        </p:spPr>
        <p:txBody>
          <a:bodyPr wrap="square" lIns="45720" rIns="45720" anchor="t">
            <a:spAutoFit/>
          </a:bodyPr>
          <a:lstStyle/>
          <a:p>
            <a:pPr algn="l">
              <a:spcAft>
                <a:spcPts val="500"/>
              </a:spcAft>
            </a:pPr>
            <a:r>
              <a:rPr sz="1500" b="0" i="0">
                <a:solidFill>
                  <a:srgbClr val="FFFFFF"/>
                </a:solidFill>
                <a:latin typeface="Aptos"/>
              </a:rPr>
              <a:t>Complaint title</a:t>
            </a:r>
          </a:p>
          <a:p>
            <a:pPr algn="l">
              <a:spcAft>
                <a:spcPts val="500"/>
              </a:spcAft>
            </a:pPr>
            <a:r>
              <a:rPr sz="1500" b="0" i="0">
                <a:solidFill>
                  <a:srgbClr val="FFFFFF"/>
                </a:solidFill>
                <a:latin typeface="Aptos"/>
              </a:rPr>
              <a:t>[ Enter issue title ]</a:t>
            </a:r>
          </a:p>
          <a:p>
            <a:pPr algn="l">
              <a:spcAft>
                <a:spcPts val="500"/>
              </a:spcAft>
            </a:pPr>
            <a:endParaRPr sz="1500" b="0" i="0">
              <a:solidFill>
                <a:srgbClr val="FFFFFF"/>
              </a:solidFill>
              <a:latin typeface="Aptos"/>
            </a:endParaRPr>
          </a:p>
          <a:p>
            <a:pPr algn="l">
              <a:spcAft>
                <a:spcPts val="500"/>
              </a:spcAft>
            </a:pPr>
            <a:r>
              <a:rPr sz="1500" b="0" i="0">
                <a:solidFill>
                  <a:srgbClr val="FFFFFF"/>
                </a:solidFill>
                <a:latin typeface="Aptos"/>
              </a:rPr>
              <a:t>Department</a:t>
            </a:r>
          </a:p>
          <a:p>
            <a:pPr algn="l">
              <a:spcAft>
                <a:spcPts val="500"/>
              </a:spcAft>
            </a:pPr>
            <a:r>
              <a:rPr sz="1500" b="0" i="0">
                <a:solidFill>
                  <a:srgbClr val="FFFFFF"/>
                </a:solidFill>
                <a:latin typeface="Aptos"/>
              </a:rPr>
              <a:t>[ Select department ▼ ]</a:t>
            </a:r>
          </a:p>
          <a:p>
            <a:pPr algn="l">
              <a:spcAft>
                <a:spcPts val="500"/>
              </a:spcAft>
            </a:pPr>
            <a:endParaRPr sz="1500" b="0" i="0">
              <a:solidFill>
                <a:srgbClr val="FFFFFF"/>
              </a:solidFill>
              <a:latin typeface="Aptos"/>
            </a:endParaRPr>
          </a:p>
          <a:p>
            <a:pPr algn="l">
              <a:spcAft>
                <a:spcPts val="500"/>
              </a:spcAft>
            </a:pPr>
            <a:r>
              <a:rPr sz="1500" b="0" i="0">
                <a:solidFill>
                  <a:srgbClr val="FFFFFF"/>
                </a:solidFill>
                <a:latin typeface="Aptos"/>
              </a:rPr>
              <a:t>Description</a:t>
            </a:r>
          </a:p>
          <a:p>
            <a:pPr algn="l">
              <a:spcAft>
                <a:spcPts val="500"/>
              </a:spcAft>
            </a:pPr>
            <a:r>
              <a:rPr sz="1500" b="0" i="0">
                <a:solidFill>
                  <a:srgbClr val="FFFFFF"/>
                </a:solidFill>
                <a:latin typeface="Aptos"/>
              </a:rPr>
              <a:t>[ Describe the issue... ]</a:t>
            </a:r>
          </a:p>
          <a:p>
            <a:pPr algn="l">
              <a:spcAft>
                <a:spcPts val="500"/>
              </a:spcAft>
            </a:pPr>
            <a:endParaRPr sz="1500" b="0" i="0">
              <a:solidFill>
                <a:srgbClr val="FFFFFF"/>
              </a:solidFill>
              <a:latin typeface="Aptos"/>
            </a:endParaRPr>
          </a:p>
          <a:p>
            <a:pPr algn="l">
              <a:spcAft>
                <a:spcPts val="500"/>
              </a:spcAft>
            </a:pPr>
            <a:r>
              <a:rPr sz="1500" b="0" i="0">
                <a:solidFill>
                  <a:srgbClr val="FFFFFF"/>
                </a:solidFill>
                <a:latin typeface="Aptos"/>
              </a:rPr>
              <a:t>[ Submit Complaint ]</a:t>
            </a:r>
          </a:p>
        </p:txBody>
      </p:sp>
      <p:sp>
        <p:nvSpPr>
          <p:cNvPr id="18" name="TextBox 17"/>
          <p:cNvSpPr txBox="1"/>
          <p:nvPr/>
        </p:nvSpPr>
        <p:spPr>
          <a:xfrm>
            <a:off x="777240" y="5852160"/>
            <a:ext cx="10698480" cy="274320"/>
          </a:xfrm>
          <a:prstGeom prst="rect">
            <a:avLst/>
          </a:prstGeom>
          <a:noFill/>
        </p:spPr>
        <p:txBody>
          <a:bodyPr wrap="square" lIns="45720" rIns="45720" anchor="t">
            <a:spAutoFit/>
          </a:bodyPr>
          <a:lstStyle/>
          <a:p>
            <a:pPr algn="l">
              <a:spcAft>
                <a:spcPts val="0"/>
              </a:spcAft>
            </a:pPr>
            <a:r>
              <a:rPr sz="1400" b="0" i="1">
                <a:solidFill>
                  <a:srgbClr val="647180"/>
                </a:solidFill>
                <a:latin typeface="Aptos"/>
              </a:rPr>
              <a:t>HTML creates the controls; CSS makes them clear and consistent.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10789920" cy="475488"/>
          </a:xfrm>
          <a:prstGeom prst="rect">
            <a:avLst/>
          </a:prstGeom>
          <a:noFill/>
        </p:spPr>
        <p:txBody>
          <a:bodyPr wrap="square" lIns="45720" rIns="45720" anchor="t">
            <a:spAutoFit/>
          </a:bodyPr>
          <a:lstStyle/>
          <a:p>
            <a:pPr algn="l">
              <a:spcAft>
                <a:spcPts val="0"/>
              </a:spcAft>
            </a:pPr>
            <a:r>
              <a:rPr sz="2400" b="1" i="0">
                <a:solidFill>
                  <a:srgbClr val="1A2B43"/>
                </a:solidFill>
                <a:latin typeface="Aptos"/>
              </a:rPr>
              <a:t>JAVASCRIPT — DOM, EVENTS &amp; DYNAMIC UI</a:t>
            </a:r>
          </a:p>
        </p:txBody>
      </p:sp>
      <p:cxnSp>
        <p:nvCxnSpPr>
          <p:cNvPr id="4" name="Connector 3"/>
          <p:cNvCxnSpPr/>
          <p:nvPr/>
        </p:nvCxnSpPr>
        <p:spPr>
          <a:xfrm>
            <a:off x="530352" y="932688"/>
            <a:ext cx="11128248" cy="0"/>
          </a:xfrm>
          <a:prstGeom prst="line">
            <a:avLst/>
          </a:prstGeom>
          <a:ln w="12700">
            <a:solidFill>
              <a:srgbClr val="DDE3E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9672"/>
            <a:ext cx="9875520" cy="182880"/>
          </a:xfrm>
          <a:prstGeom prst="rect">
            <a:avLst/>
          </a:prstGeom>
          <a:noFill/>
        </p:spPr>
        <p:txBody>
          <a:bodyPr wrap="square" lIns="0" tIns="0" rIns="0" bIns="0" anchor="t">
            <a:spAutoFit/>
          </a:bodyPr>
          <a:lstStyle/>
          <a:p>
            <a:pPr algn="l">
              <a:spcAft>
                <a:spcPts val="0"/>
              </a:spcAft>
            </a:pPr>
            <a:r>
              <a:rPr sz="800" b="1" i="0">
                <a:solidFill>
                  <a:srgbClr val="647180"/>
                </a:solidFill>
                <a:latin typeface="Aptos"/>
              </a:rPr>
              <a:t>CAMPUS COMPLAINT &amp; ISSUE TRACKING SYSTEM  •  WEB PROGRAMMING</a:t>
            </a:r>
          </a:p>
        </p:txBody>
      </p:sp>
      <p:sp>
        <p:nvSpPr>
          <p:cNvPr id="6" name="TextBox 5"/>
          <p:cNvSpPr txBox="1"/>
          <p:nvPr/>
        </p:nvSpPr>
        <p:spPr>
          <a:xfrm>
            <a:off x="11201400" y="6492240"/>
            <a:ext cx="457200" cy="228600"/>
          </a:xfrm>
          <a:prstGeom prst="rect">
            <a:avLst/>
          </a:prstGeom>
          <a:noFill/>
        </p:spPr>
        <p:txBody>
          <a:bodyPr wrap="square" lIns="0" tIns="0" rIns="0" bIns="0" anchor="t">
            <a:spAutoFit/>
          </a:bodyPr>
          <a:lstStyle/>
          <a:p>
            <a:pPr algn="r">
              <a:spcAft>
                <a:spcPts val="0"/>
              </a:spcAft>
            </a:pPr>
            <a:r>
              <a:rPr sz="900" b="1" i="0">
                <a:solidFill>
                  <a:srgbClr val="238487"/>
                </a:solidFill>
                <a:latin typeface="Aptos"/>
              </a:rPr>
              <a:t>08</a:t>
            </a:r>
          </a:p>
        </p:txBody>
      </p:sp>
      <p:sp>
        <p:nvSpPr>
          <p:cNvPr id="7" name="TextBox 6"/>
          <p:cNvSpPr txBox="1"/>
          <p:nvPr/>
        </p:nvSpPr>
        <p:spPr>
          <a:xfrm>
            <a:off x="777240" y="1234440"/>
            <a:ext cx="10607040" cy="502920"/>
          </a:xfrm>
          <a:prstGeom prst="rect">
            <a:avLst/>
          </a:prstGeom>
          <a:noFill/>
        </p:spPr>
        <p:txBody>
          <a:bodyPr wrap="square" lIns="45720" rIns="45720" anchor="t">
            <a:spAutoFit/>
          </a:bodyPr>
          <a:lstStyle/>
          <a:p>
            <a:pPr algn="l">
              <a:spcAft>
                <a:spcPts val="0"/>
              </a:spcAft>
            </a:pPr>
            <a:r>
              <a:rPr sz="1900" b="1" i="0">
                <a:solidFill>
                  <a:srgbClr val="1A2B43"/>
                </a:solidFill>
                <a:latin typeface="Aptos"/>
              </a:rPr>
              <a:t>JavaScript adds behaviour to the pages and connects user actions to the backend.</a:t>
            </a:r>
          </a:p>
        </p:txBody>
      </p:sp>
      <p:sp>
        <p:nvSpPr>
          <p:cNvPr id="8" name="Rounded Rectangle 7"/>
          <p:cNvSpPr/>
          <p:nvPr/>
        </p:nvSpPr>
        <p:spPr>
          <a:xfrm>
            <a:off x="822960" y="1965960"/>
            <a:ext cx="109728" cy="475488"/>
          </a:xfrm>
          <a:prstGeom prst="roundRect">
            <a:avLst>
              <a:gd name="adj" fmla="val 12000"/>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5568" y="1965960"/>
            <a:ext cx="2057400" cy="292608"/>
          </a:xfrm>
          <a:prstGeom prst="rect">
            <a:avLst/>
          </a:prstGeom>
          <a:noFill/>
        </p:spPr>
        <p:txBody>
          <a:bodyPr wrap="square" lIns="45720" rIns="45720" anchor="t">
            <a:spAutoFit/>
          </a:bodyPr>
          <a:lstStyle/>
          <a:p>
            <a:pPr algn="l">
              <a:spcAft>
                <a:spcPts val="0"/>
              </a:spcAft>
            </a:pPr>
            <a:r>
              <a:rPr sz="1500" b="1" i="0">
                <a:solidFill>
                  <a:srgbClr val="1A2B43"/>
                </a:solidFill>
                <a:latin typeface="Aptos"/>
              </a:rPr>
              <a:t>Form handling</a:t>
            </a:r>
          </a:p>
        </p:txBody>
      </p:sp>
      <p:sp>
        <p:nvSpPr>
          <p:cNvPr id="10" name="TextBox 9"/>
          <p:cNvSpPr txBox="1"/>
          <p:nvPr/>
        </p:nvSpPr>
        <p:spPr>
          <a:xfrm>
            <a:off x="3246120" y="1965960"/>
            <a:ext cx="7772400" cy="384048"/>
          </a:xfrm>
          <a:prstGeom prst="rect">
            <a:avLst/>
          </a:prstGeom>
          <a:noFill/>
        </p:spPr>
        <p:txBody>
          <a:bodyPr wrap="square" lIns="45720" rIns="45720" anchor="t">
            <a:spAutoFit/>
          </a:bodyPr>
          <a:lstStyle/>
          <a:p>
            <a:pPr algn="l">
              <a:spcAft>
                <a:spcPts val="0"/>
              </a:spcAft>
            </a:pPr>
            <a:r>
              <a:rPr sz="1400" b="0" i="0">
                <a:solidFill>
                  <a:srgbClr val="27313D"/>
                </a:solidFill>
                <a:latin typeface="Aptos"/>
              </a:rPr>
              <a:t>Read form values and check required fields.</a:t>
            </a:r>
          </a:p>
        </p:txBody>
      </p:sp>
      <p:sp>
        <p:nvSpPr>
          <p:cNvPr id="11" name="Rounded Rectangle 10"/>
          <p:cNvSpPr/>
          <p:nvPr/>
        </p:nvSpPr>
        <p:spPr>
          <a:xfrm>
            <a:off x="822960" y="2679191"/>
            <a:ext cx="109728" cy="475488"/>
          </a:xfrm>
          <a:prstGeom prst="roundRect">
            <a:avLst>
              <a:gd name="adj" fmla="val 12000"/>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15568" y="2679191"/>
            <a:ext cx="2057400" cy="292608"/>
          </a:xfrm>
          <a:prstGeom prst="rect">
            <a:avLst/>
          </a:prstGeom>
          <a:noFill/>
        </p:spPr>
        <p:txBody>
          <a:bodyPr wrap="square" lIns="45720" rIns="45720" anchor="t">
            <a:spAutoFit/>
          </a:bodyPr>
          <a:lstStyle/>
          <a:p>
            <a:pPr algn="l">
              <a:spcAft>
                <a:spcPts val="0"/>
              </a:spcAft>
            </a:pPr>
            <a:r>
              <a:rPr sz="1500" b="1" i="0">
                <a:solidFill>
                  <a:srgbClr val="1A2B43"/>
                </a:solidFill>
                <a:latin typeface="Aptos"/>
              </a:rPr>
              <a:t>DOM manipulation</a:t>
            </a:r>
          </a:p>
        </p:txBody>
      </p:sp>
      <p:sp>
        <p:nvSpPr>
          <p:cNvPr id="13" name="TextBox 12"/>
          <p:cNvSpPr txBox="1"/>
          <p:nvPr/>
        </p:nvSpPr>
        <p:spPr>
          <a:xfrm>
            <a:off x="3246120" y="2679191"/>
            <a:ext cx="7772400" cy="384048"/>
          </a:xfrm>
          <a:prstGeom prst="rect">
            <a:avLst/>
          </a:prstGeom>
          <a:noFill/>
        </p:spPr>
        <p:txBody>
          <a:bodyPr wrap="square" lIns="45720" rIns="45720" anchor="t">
            <a:spAutoFit/>
          </a:bodyPr>
          <a:lstStyle/>
          <a:p>
            <a:pPr algn="l">
              <a:spcAft>
                <a:spcPts val="0"/>
              </a:spcAft>
            </a:pPr>
            <a:r>
              <a:rPr sz="1400" b="0" i="0">
                <a:solidFill>
                  <a:srgbClr val="27313D"/>
                </a:solidFill>
                <a:latin typeface="Aptos"/>
              </a:rPr>
              <a:t>Update welcome messages, complaint cards and page content.</a:t>
            </a:r>
          </a:p>
        </p:txBody>
      </p:sp>
      <p:sp>
        <p:nvSpPr>
          <p:cNvPr id="14" name="Rounded Rectangle 13"/>
          <p:cNvSpPr/>
          <p:nvPr/>
        </p:nvSpPr>
        <p:spPr>
          <a:xfrm>
            <a:off x="822960" y="3392424"/>
            <a:ext cx="109728" cy="475488"/>
          </a:xfrm>
          <a:prstGeom prst="roundRect">
            <a:avLst>
              <a:gd name="adj" fmla="val 12000"/>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15568" y="3392424"/>
            <a:ext cx="2057400" cy="292608"/>
          </a:xfrm>
          <a:prstGeom prst="rect">
            <a:avLst/>
          </a:prstGeom>
          <a:noFill/>
        </p:spPr>
        <p:txBody>
          <a:bodyPr wrap="square" lIns="45720" rIns="45720" anchor="t">
            <a:spAutoFit/>
          </a:bodyPr>
          <a:lstStyle/>
          <a:p>
            <a:pPr algn="l">
              <a:spcAft>
                <a:spcPts val="0"/>
              </a:spcAft>
            </a:pPr>
            <a:r>
              <a:rPr sz="1500" b="1" i="0">
                <a:solidFill>
                  <a:srgbClr val="1A2B43"/>
                </a:solidFill>
                <a:latin typeface="Aptos"/>
              </a:rPr>
              <a:t>Events</a:t>
            </a:r>
          </a:p>
        </p:txBody>
      </p:sp>
      <p:sp>
        <p:nvSpPr>
          <p:cNvPr id="16" name="TextBox 15"/>
          <p:cNvSpPr txBox="1"/>
          <p:nvPr/>
        </p:nvSpPr>
        <p:spPr>
          <a:xfrm>
            <a:off x="3246120" y="3392424"/>
            <a:ext cx="7772400" cy="384048"/>
          </a:xfrm>
          <a:prstGeom prst="rect">
            <a:avLst/>
          </a:prstGeom>
          <a:noFill/>
        </p:spPr>
        <p:txBody>
          <a:bodyPr wrap="square" lIns="45720" rIns="45720" anchor="t">
            <a:spAutoFit/>
          </a:bodyPr>
          <a:lstStyle/>
          <a:p>
            <a:pPr algn="l">
              <a:spcAft>
                <a:spcPts val="0"/>
              </a:spcAft>
            </a:pPr>
            <a:r>
              <a:rPr sz="1400" b="0" i="0">
                <a:solidFill>
                  <a:srgbClr val="27313D"/>
                </a:solidFill>
                <a:latin typeface="Aptos"/>
              </a:rPr>
              <a:t>Respond to button clicks, form submissions and input changes.</a:t>
            </a:r>
          </a:p>
        </p:txBody>
      </p:sp>
      <p:sp>
        <p:nvSpPr>
          <p:cNvPr id="17" name="Rounded Rectangle 16"/>
          <p:cNvSpPr/>
          <p:nvPr/>
        </p:nvSpPr>
        <p:spPr>
          <a:xfrm>
            <a:off x="822960" y="4105656"/>
            <a:ext cx="109728" cy="475488"/>
          </a:xfrm>
          <a:prstGeom prst="roundRect">
            <a:avLst>
              <a:gd name="adj" fmla="val 12000"/>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15568" y="4105656"/>
            <a:ext cx="2057400" cy="292608"/>
          </a:xfrm>
          <a:prstGeom prst="rect">
            <a:avLst/>
          </a:prstGeom>
          <a:noFill/>
        </p:spPr>
        <p:txBody>
          <a:bodyPr wrap="square" lIns="45720" rIns="45720" anchor="t">
            <a:spAutoFit/>
          </a:bodyPr>
          <a:lstStyle/>
          <a:p>
            <a:pPr algn="l">
              <a:spcAft>
                <a:spcPts val="0"/>
              </a:spcAft>
            </a:pPr>
            <a:r>
              <a:rPr sz="1500" b="1" i="0">
                <a:solidFill>
                  <a:srgbClr val="1A2B43"/>
                </a:solidFill>
                <a:latin typeface="Aptos"/>
              </a:rPr>
              <a:t>Fetch requests</a:t>
            </a:r>
          </a:p>
        </p:txBody>
      </p:sp>
      <p:sp>
        <p:nvSpPr>
          <p:cNvPr id="19" name="TextBox 18"/>
          <p:cNvSpPr txBox="1"/>
          <p:nvPr/>
        </p:nvSpPr>
        <p:spPr>
          <a:xfrm>
            <a:off x="3246120" y="4105656"/>
            <a:ext cx="7772400" cy="384048"/>
          </a:xfrm>
          <a:prstGeom prst="rect">
            <a:avLst/>
          </a:prstGeom>
          <a:noFill/>
        </p:spPr>
        <p:txBody>
          <a:bodyPr wrap="square" lIns="45720" rIns="45720" anchor="t">
            <a:spAutoFit/>
          </a:bodyPr>
          <a:lstStyle/>
          <a:p>
            <a:pPr algn="l">
              <a:spcAft>
                <a:spcPts val="0"/>
              </a:spcAft>
            </a:pPr>
            <a:r>
              <a:rPr sz="1400" b="0" i="0">
                <a:solidFill>
                  <a:srgbClr val="27313D"/>
                </a:solidFill>
                <a:latin typeface="Aptos"/>
              </a:rPr>
              <a:t>Send signup, login and complaint requests to Express routes.</a:t>
            </a:r>
          </a:p>
        </p:txBody>
      </p:sp>
      <p:sp>
        <p:nvSpPr>
          <p:cNvPr id="20" name="Rounded Rectangle 19"/>
          <p:cNvSpPr/>
          <p:nvPr/>
        </p:nvSpPr>
        <p:spPr>
          <a:xfrm>
            <a:off x="822960" y="4818888"/>
            <a:ext cx="109728" cy="475488"/>
          </a:xfrm>
          <a:prstGeom prst="roundRect">
            <a:avLst>
              <a:gd name="adj" fmla="val 12000"/>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15568" y="4818888"/>
            <a:ext cx="2057400" cy="292608"/>
          </a:xfrm>
          <a:prstGeom prst="rect">
            <a:avLst/>
          </a:prstGeom>
          <a:noFill/>
        </p:spPr>
        <p:txBody>
          <a:bodyPr wrap="square" lIns="45720" rIns="45720" anchor="t">
            <a:spAutoFit/>
          </a:bodyPr>
          <a:lstStyle/>
          <a:p>
            <a:pPr algn="l">
              <a:spcAft>
                <a:spcPts val="0"/>
              </a:spcAft>
            </a:pPr>
            <a:r>
              <a:rPr sz="1500" b="1" i="0">
                <a:solidFill>
                  <a:srgbClr val="1A2B43"/>
                </a:solidFill>
                <a:latin typeface="Aptos"/>
              </a:rPr>
              <a:t>Dynamic status</a:t>
            </a:r>
          </a:p>
        </p:txBody>
      </p:sp>
      <p:sp>
        <p:nvSpPr>
          <p:cNvPr id="22" name="TextBox 21"/>
          <p:cNvSpPr txBox="1"/>
          <p:nvPr/>
        </p:nvSpPr>
        <p:spPr>
          <a:xfrm>
            <a:off x="3246120" y="4818888"/>
            <a:ext cx="7772400" cy="384048"/>
          </a:xfrm>
          <a:prstGeom prst="rect">
            <a:avLst/>
          </a:prstGeom>
          <a:noFill/>
        </p:spPr>
        <p:txBody>
          <a:bodyPr wrap="square" lIns="45720" rIns="45720" anchor="t">
            <a:spAutoFit/>
          </a:bodyPr>
          <a:lstStyle/>
          <a:p>
            <a:pPr algn="l">
              <a:spcAft>
                <a:spcPts val="0"/>
              </a:spcAft>
            </a:pPr>
            <a:r>
              <a:rPr sz="1400" b="0" i="0">
                <a:solidFill>
                  <a:srgbClr val="27313D"/>
                </a:solidFill>
                <a:latin typeface="Aptos"/>
              </a:rPr>
              <a:t>Display complaint status, priority and deadline information.</a:t>
            </a:r>
          </a:p>
        </p:txBody>
      </p:sp>
      <p:sp>
        <p:nvSpPr>
          <p:cNvPr id="23" name="Rounded Rectangle 22"/>
          <p:cNvSpPr/>
          <p:nvPr/>
        </p:nvSpPr>
        <p:spPr>
          <a:xfrm>
            <a:off x="822960" y="5715000"/>
            <a:ext cx="10561320" cy="457200"/>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5840" y="5815584"/>
            <a:ext cx="10058400" cy="228600"/>
          </a:xfrm>
          <a:prstGeom prst="rect">
            <a:avLst/>
          </a:prstGeom>
          <a:noFill/>
        </p:spPr>
        <p:txBody>
          <a:bodyPr wrap="square" lIns="45720" rIns="45720" anchor="t">
            <a:spAutoFit/>
          </a:bodyPr>
          <a:lstStyle/>
          <a:p>
            <a:pPr algn="l">
              <a:spcAft>
                <a:spcPts val="0"/>
              </a:spcAft>
            </a:pPr>
            <a:r>
              <a:rPr sz="1300" b="1" i="0">
                <a:solidFill>
                  <a:srgbClr val="238487"/>
                </a:solidFill>
                <a:latin typeface="Aptos"/>
              </a:rPr>
              <a:t>Example concept: fetch('/login', { method: 'POST', ... }) communicates with the server.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10789920" cy="475488"/>
          </a:xfrm>
          <a:prstGeom prst="rect">
            <a:avLst/>
          </a:prstGeom>
          <a:noFill/>
        </p:spPr>
        <p:txBody>
          <a:bodyPr wrap="square" lIns="45720" rIns="45720" anchor="t">
            <a:spAutoFit/>
          </a:bodyPr>
          <a:lstStyle/>
          <a:p>
            <a:pPr algn="l">
              <a:spcAft>
                <a:spcPts val="0"/>
              </a:spcAft>
            </a:pPr>
            <a:r>
              <a:rPr sz="2400" b="1" i="0">
                <a:solidFill>
                  <a:srgbClr val="1A2B43"/>
                </a:solidFill>
                <a:latin typeface="Aptos"/>
              </a:rPr>
              <a:t>USER MODULES &amp; INTERFACES</a:t>
            </a:r>
          </a:p>
        </p:txBody>
      </p:sp>
      <p:cxnSp>
        <p:nvCxnSpPr>
          <p:cNvPr id="4" name="Connector 3"/>
          <p:cNvCxnSpPr/>
          <p:nvPr/>
        </p:nvCxnSpPr>
        <p:spPr>
          <a:xfrm>
            <a:off x="530352" y="932688"/>
            <a:ext cx="11128248" cy="0"/>
          </a:xfrm>
          <a:prstGeom prst="line">
            <a:avLst/>
          </a:prstGeom>
          <a:ln w="12700">
            <a:solidFill>
              <a:srgbClr val="DDE3E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9672"/>
            <a:ext cx="9875520" cy="182880"/>
          </a:xfrm>
          <a:prstGeom prst="rect">
            <a:avLst/>
          </a:prstGeom>
          <a:noFill/>
        </p:spPr>
        <p:txBody>
          <a:bodyPr wrap="square" lIns="0" tIns="0" rIns="0" bIns="0" anchor="t">
            <a:spAutoFit/>
          </a:bodyPr>
          <a:lstStyle/>
          <a:p>
            <a:pPr algn="l">
              <a:spcAft>
                <a:spcPts val="0"/>
              </a:spcAft>
            </a:pPr>
            <a:r>
              <a:rPr sz="800" b="1" i="0">
                <a:solidFill>
                  <a:srgbClr val="647180"/>
                </a:solidFill>
                <a:latin typeface="Aptos"/>
              </a:rPr>
              <a:t>CAMPUS COMPLAINT &amp; ISSUE TRACKING SYSTEM  •  WEB PROGRAMMING</a:t>
            </a:r>
          </a:p>
        </p:txBody>
      </p:sp>
      <p:sp>
        <p:nvSpPr>
          <p:cNvPr id="6" name="TextBox 5"/>
          <p:cNvSpPr txBox="1"/>
          <p:nvPr/>
        </p:nvSpPr>
        <p:spPr>
          <a:xfrm>
            <a:off x="11201400" y="6492240"/>
            <a:ext cx="457200" cy="228600"/>
          </a:xfrm>
          <a:prstGeom prst="rect">
            <a:avLst/>
          </a:prstGeom>
          <a:noFill/>
        </p:spPr>
        <p:txBody>
          <a:bodyPr wrap="square" lIns="0" tIns="0" rIns="0" bIns="0" anchor="t">
            <a:spAutoFit/>
          </a:bodyPr>
          <a:lstStyle/>
          <a:p>
            <a:pPr algn="r">
              <a:spcAft>
                <a:spcPts val="0"/>
              </a:spcAft>
            </a:pPr>
            <a:r>
              <a:rPr sz="900" b="1" i="0">
                <a:solidFill>
                  <a:srgbClr val="238487"/>
                </a:solidFill>
                <a:latin typeface="Aptos"/>
              </a:rPr>
              <a:t>09</a:t>
            </a:r>
          </a:p>
        </p:txBody>
      </p:sp>
      <p:sp>
        <p:nvSpPr>
          <p:cNvPr id="7" name="Rounded Rectangle 6"/>
          <p:cNvSpPr/>
          <p:nvPr/>
        </p:nvSpPr>
        <p:spPr>
          <a:xfrm>
            <a:off x="685800" y="1280160"/>
            <a:ext cx="3520440" cy="2788920"/>
          </a:xfrm>
          <a:prstGeom prst="roundRect">
            <a:avLst>
              <a:gd name="adj" fmla="val 12000"/>
            </a:avLst>
          </a:prstGeom>
          <a:solidFill>
            <a:srgbClr val="FFFFFF"/>
          </a:solidFill>
          <a:ln w="12700">
            <a:solidFill>
              <a:srgbClr val="DD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280160"/>
            <a:ext cx="3520440" cy="310896"/>
          </a:xfrm>
          <a:prstGeom prst="roundRect">
            <a:avLst>
              <a:gd name="adj" fmla="val 12000"/>
            </a:avLst>
          </a:prstGeom>
          <a:solidFill>
            <a:srgbClr val="1A2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13816" y="1380744"/>
            <a:ext cx="73152" cy="73152"/>
          </a:xfrm>
          <a:prstGeom prst="ellipse">
            <a:avLst/>
          </a:prstGeom>
          <a:solidFill>
            <a:srgbClr val="C053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969264" y="1380744"/>
            <a:ext cx="73152" cy="73152"/>
          </a:xfrm>
          <a:prstGeom prst="ellipse">
            <a:avLst/>
          </a:prstGeom>
          <a:solidFill>
            <a:srgbClr val="E2A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124712" y="1380744"/>
            <a:ext cx="73152" cy="73152"/>
          </a:xfrm>
          <a:prstGeom prst="ellipse">
            <a:avLst/>
          </a:prstGeom>
          <a:solidFill>
            <a:srgbClr val="4591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0392" y="1755648"/>
            <a:ext cx="3200400" cy="292608"/>
          </a:xfrm>
          <a:prstGeom prst="rect">
            <a:avLst/>
          </a:prstGeom>
          <a:noFill/>
        </p:spPr>
        <p:txBody>
          <a:bodyPr wrap="square" lIns="45720" rIns="45720" anchor="t">
            <a:spAutoFit/>
          </a:bodyPr>
          <a:lstStyle/>
          <a:p>
            <a:pPr algn="l">
              <a:spcAft>
                <a:spcPts val="0"/>
              </a:spcAft>
            </a:pPr>
            <a:r>
              <a:rPr sz="1300" b="1" i="0">
                <a:solidFill>
                  <a:srgbClr val="1A2B43"/>
                </a:solidFill>
                <a:latin typeface="Aptos"/>
              </a:rPr>
              <a:t>Student / Faculty</a:t>
            </a:r>
          </a:p>
        </p:txBody>
      </p:sp>
      <p:sp>
        <p:nvSpPr>
          <p:cNvPr id="13" name="Rounded Rectangle 12"/>
          <p:cNvSpPr/>
          <p:nvPr/>
        </p:nvSpPr>
        <p:spPr>
          <a:xfrm>
            <a:off x="850392" y="2148839"/>
            <a:ext cx="3191256" cy="393192"/>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41832" y="2240279"/>
            <a:ext cx="2377440" cy="182880"/>
          </a:xfrm>
          <a:prstGeom prst="rect">
            <a:avLst/>
          </a:prstGeom>
          <a:noFill/>
        </p:spPr>
        <p:txBody>
          <a:bodyPr wrap="square" lIns="45720" rIns="45720" anchor="t">
            <a:spAutoFit/>
          </a:bodyPr>
          <a:lstStyle/>
          <a:p>
            <a:pPr algn="l">
              <a:spcAft>
                <a:spcPts val="0"/>
              </a:spcAft>
            </a:pPr>
            <a:r>
              <a:rPr sz="900" b="1" i="0">
                <a:solidFill>
                  <a:srgbClr val="27313D"/>
                </a:solidFill>
                <a:latin typeface="Aptos"/>
              </a:rPr>
              <a:t>Raise complaint</a:t>
            </a:r>
          </a:p>
        </p:txBody>
      </p:sp>
      <p:sp>
        <p:nvSpPr>
          <p:cNvPr id="15" name="TextBox 14"/>
          <p:cNvSpPr txBox="1"/>
          <p:nvPr/>
        </p:nvSpPr>
        <p:spPr>
          <a:xfrm>
            <a:off x="3273551" y="2240279"/>
            <a:ext cx="658368" cy="182880"/>
          </a:xfrm>
          <a:prstGeom prst="rect">
            <a:avLst/>
          </a:prstGeom>
          <a:noFill/>
        </p:spPr>
        <p:txBody>
          <a:bodyPr wrap="square" lIns="45720" rIns="45720" anchor="t">
            <a:spAutoFit/>
          </a:bodyPr>
          <a:lstStyle/>
          <a:p>
            <a:pPr algn="r">
              <a:spcAft>
                <a:spcPts val="0"/>
              </a:spcAft>
            </a:pPr>
            <a:r>
              <a:rPr sz="800" b="1" i="0">
                <a:solidFill>
                  <a:srgbClr val="238487"/>
                </a:solidFill>
                <a:latin typeface="Aptos"/>
              </a:rPr>
              <a:t>NEW</a:t>
            </a:r>
          </a:p>
        </p:txBody>
      </p:sp>
      <p:sp>
        <p:nvSpPr>
          <p:cNvPr id="16" name="Rounded Rectangle 15"/>
          <p:cNvSpPr/>
          <p:nvPr/>
        </p:nvSpPr>
        <p:spPr>
          <a:xfrm>
            <a:off x="850392" y="2660903"/>
            <a:ext cx="3191256" cy="393192"/>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41832" y="2752344"/>
            <a:ext cx="2377440" cy="182880"/>
          </a:xfrm>
          <a:prstGeom prst="rect">
            <a:avLst/>
          </a:prstGeom>
          <a:noFill/>
        </p:spPr>
        <p:txBody>
          <a:bodyPr wrap="square" lIns="45720" rIns="45720" anchor="t">
            <a:spAutoFit/>
          </a:bodyPr>
          <a:lstStyle/>
          <a:p>
            <a:pPr algn="l">
              <a:spcAft>
                <a:spcPts val="0"/>
              </a:spcAft>
            </a:pPr>
            <a:r>
              <a:rPr sz="900" b="1" i="0">
                <a:solidFill>
                  <a:srgbClr val="27313D"/>
                </a:solidFill>
                <a:latin typeface="Aptos"/>
              </a:rPr>
              <a:t>Track status</a:t>
            </a:r>
          </a:p>
        </p:txBody>
      </p:sp>
      <p:sp>
        <p:nvSpPr>
          <p:cNvPr id="18" name="TextBox 17"/>
          <p:cNvSpPr txBox="1"/>
          <p:nvPr/>
        </p:nvSpPr>
        <p:spPr>
          <a:xfrm>
            <a:off x="3273551" y="2752344"/>
            <a:ext cx="658368" cy="182880"/>
          </a:xfrm>
          <a:prstGeom prst="rect">
            <a:avLst/>
          </a:prstGeom>
          <a:noFill/>
        </p:spPr>
        <p:txBody>
          <a:bodyPr wrap="square" lIns="45720" rIns="45720" anchor="t">
            <a:spAutoFit/>
          </a:bodyPr>
          <a:lstStyle/>
          <a:p>
            <a:pPr algn="r">
              <a:spcAft>
                <a:spcPts val="0"/>
              </a:spcAft>
            </a:pPr>
            <a:r>
              <a:rPr sz="800" b="1" i="0">
                <a:solidFill>
                  <a:srgbClr val="238487"/>
                </a:solidFill>
                <a:latin typeface="Aptos"/>
              </a:rPr>
              <a:t>OPEN</a:t>
            </a:r>
          </a:p>
        </p:txBody>
      </p:sp>
      <p:sp>
        <p:nvSpPr>
          <p:cNvPr id="19" name="Rounded Rectangle 18"/>
          <p:cNvSpPr/>
          <p:nvPr/>
        </p:nvSpPr>
        <p:spPr>
          <a:xfrm>
            <a:off x="850392" y="3172968"/>
            <a:ext cx="3191256" cy="393192"/>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1832" y="3264408"/>
            <a:ext cx="2377440" cy="182880"/>
          </a:xfrm>
          <a:prstGeom prst="rect">
            <a:avLst/>
          </a:prstGeom>
          <a:noFill/>
        </p:spPr>
        <p:txBody>
          <a:bodyPr wrap="square" lIns="45720" rIns="45720" anchor="t">
            <a:spAutoFit/>
          </a:bodyPr>
          <a:lstStyle/>
          <a:p>
            <a:pPr algn="l">
              <a:spcAft>
                <a:spcPts val="0"/>
              </a:spcAft>
            </a:pPr>
            <a:r>
              <a:rPr sz="900" b="1" i="0">
                <a:solidFill>
                  <a:srgbClr val="27313D"/>
                </a:solidFill>
                <a:latin typeface="Aptos"/>
              </a:rPr>
              <a:t>View history</a:t>
            </a:r>
          </a:p>
        </p:txBody>
      </p:sp>
      <p:sp>
        <p:nvSpPr>
          <p:cNvPr id="21" name="TextBox 20"/>
          <p:cNvSpPr txBox="1"/>
          <p:nvPr/>
        </p:nvSpPr>
        <p:spPr>
          <a:xfrm>
            <a:off x="3273551" y="3264408"/>
            <a:ext cx="658368" cy="182880"/>
          </a:xfrm>
          <a:prstGeom prst="rect">
            <a:avLst/>
          </a:prstGeom>
          <a:noFill/>
        </p:spPr>
        <p:txBody>
          <a:bodyPr wrap="square" lIns="45720" rIns="45720" anchor="t">
            <a:spAutoFit/>
          </a:bodyPr>
          <a:lstStyle/>
          <a:p>
            <a:pPr algn="r">
              <a:spcAft>
                <a:spcPts val="0"/>
              </a:spcAft>
            </a:pPr>
            <a:r>
              <a:rPr sz="800" b="1" i="0">
                <a:solidFill>
                  <a:srgbClr val="238487"/>
                </a:solidFill>
                <a:latin typeface="Aptos"/>
              </a:rPr>
              <a:t>VIEW</a:t>
            </a:r>
          </a:p>
        </p:txBody>
      </p:sp>
      <p:sp>
        <p:nvSpPr>
          <p:cNvPr id="22" name="Rounded Rectangle 21"/>
          <p:cNvSpPr/>
          <p:nvPr/>
        </p:nvSpPr>
        <p:spPr>
          <a:xfrm>
            <a:off x="4343400" y="1280160"/>
            <a:ext cx="3520440" cy="2788920"/>
          </a:xfrm>
          <a:prstGeom prst="roundRect">
            <a:avLst>
              <a:gd name="adj" fmla="val 12000"/>
            </a:avLst>
          </a:prstGeom>
          <a:solidFill>
            <a:srgbClr val="FFFFFF"/>
          </a:solidFill>
          <a:ln w="12700">
            <a:solidFill>
              <a:srgbClr val="DD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343400" y="1280160"/>
            <a:ext cx="3520440" cy="310896"/>
          </a:xfrm>
          <a:prstGeom prst="roundRect">
            <a:avLst>
              <a:gd name="adj" fmla="val 12000"/>
            </a:avLst>
          </a:prstGeom>
          <a:solidFill>
            <a:srgbClr val="1A2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4471416" y="1380744"/>
            <a:ext cx="73152" cy="73152"/>
          </a:xfrm>
          <a:prstGeom prst="ellipse">
            <a:avLst/>
          </a:prstGeom>
          <a:solidFill>
            <a:srgbClr val="C053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4626864" y="1380744"/>
            <a:ext cx="73152" cy="73152"/>
          </a:xfrm>
          <a:prstGeom prst="ellipse">
            <a:avLst/>
          </a:prstGeom>
          <a:solidFill>
            <a:srgbClr val="E2A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4782312" y="1380744"/>
            <a:ext cx="73152" cy="73152"/>
          </a:xfrm>
          <a:prstGeom prst="ellipse">
            <a:avLst/>
          </a:prstGeom>
          <a:solidFill>
            <a:srgbClr val="4591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07992" y="1755648"/>
            <a:ext cx="3200400" cy="292608"/>
          </a:xfrm>
          <a:prstGeom prst="rect">
            <a:avLst/>
          </a:prstGeom>
          <a:noFill/>
        </p:spPr>
        <p:txBody>
          <a:bodyPr wrap="square" lIns="45720" rIns="45720" anchor="t">
            <a:spAutoFit/>
          </a:bodyPr>
          <a:lstStyle/>
          <a:p>
            <a:pPr algn="l">
              <a:spcAft>
                <a:spcPts val="0"/>
              </a:spcAft>
            </a:pPr>
            <a:r>
              <a:rPr sz="1300" b="1" i="0">
                <a:solidFill>
                  <a:srgbClr val="1A2B43"/>
                </a:solidFill>
                <a:latin typeface="Aptos"/>
              </a:rPr>
              <a:t>Complaint monitor</a:t>
            </a:r>
          </a:p>
        </p:txBody>
      </p:sp>
      <p:sp>
        <p:nvSpPr>
          <p:cNvPr id="28" name="Rounded Rectangle 27"/>
          <p:cNvSpPr/>
          <p:nvPr/>
        </p:nvSpPr>
        <p:spPr>
          <a:xfrm>
            <a:off x="4507992" y="2148839"/>
            <a:ext cx="3191256" cy="393192"/>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99432" y="2240279"/>
            <a:ext cx="2377440" cy="182880"/>
          </a:xfrm>
          <a:prstGeom prst="rect">
            <a:avLst/>
          </a:prstGeom>
          <a:noFill/>
        </p:spPr>
        <p:txBody>
          <a:bodyPr wrap="square" lIns="45720" rIns="45720" anchor="t">
            <a:spAutoFit/>
          </a:bodyPr>
          <a:lstStyle/>
          <a:p>
            <a:pPr algn="l">
              <a:spcAft>
                <a:spcPts val="0"/>
              </a:spcAft>
            </a:pPr>
            <a:r>
              <a:rPr sz="900" b="1" i="0">
                <a:solidFill>
                  <a:srgbClr val="27313D"/>
                </a:solidFill>
                <a:latin typeface="Aptos"/>
              </a:rPr>
              <a:t>Transport issue</a:t>
            </a:r>
          </a:p>
        </p:txBody>
      </p:sp>
      <p:sp>
        <p:nvSpPr>
          <p:cNvPr id="30" name="TextBox 29"/>
          <p:cNvSpPr txBox="1"/>
          <p:nvPr/>
        </p:nvSpPr>
        <p:spPr>
          <a:xfrm>
            <a:off x="6931152" y="2240279"/>
            <a:ext cx="658368" cy="182880"/>
          </a:xfrm>
          <a:prstGeom prst="rect">
            <a:avLst/>
          </a:prstGeom>
          <a:noFill/>
        </p:spPr>
        <p:txBody>
          <a:bodyPr wrap="square" lIns="45720" rIns="45720" anchor="t">
            <a:spAutoFit/>
          </a:bodyPr>
          <a:lstStyle/>
          <a:p>
            <a:pPr algn="r">
              <a:spcAft>
                <a:spcPts val="0"/>
              </a:spcAft>
            </a:pPr>
            <a:r>
              <a:rPr sz="800" b="1" i="0">
                <a:solidFill>
                  <a:srgbClr val="4F7DB4"/>
                </a:solidFill>
                <a:latin typeface="Aptos"/>
              </a:rPr>
              <a:t>OPEN</a:t>
            </a:r>
          </a:p>
        </p:txBody>
      </p:sp>
      <p:sp>
        <p:nvSpPr>
          <p:cNvPr id="31" name="Rounded Rectangle 30"/>
          <p:cNvSpPr/>
          <p:nvPr/>
        </p:nvSpPr>
        <p:spPr>
          <a:xfrm>
            <a:off x="4507992" y="2660903"/>
            <a:ext cx="3191256" cy="393192"/>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99432" y="2752344"/>
            <a:ext cx="2377440" cy="182880"/>
          </a:xfrm>
          <a:prstGeom prst="rect">
            <a:avLst/>
          </a:prstGeom>
          <a:noFill/>
        </p:spPr>
        <p:txBody>
          <a:bodyPr wrap="square" lIns="45720" rIns="45720" anchor="t">
            <a:spAutoFit/>
          </a:bodyPr>
          <a:lstStyle/>
          <a:p>
            <a:pPr algn="l">
              <a:spcAft>
                <a:spcPts val="0"/>
              </a:spcAft>
            </a:pPr>
            <a:r>
              <a:rPr sz="900" b="1" i="0">
                <a:solidFill>
                  <a:srgbClr val="27313D"/>
                </a:solidFill>
                <a:latin typeface="Aptos"/>
              </a:rPr>
              <a:t>Classroom repair</a:t>
            </a:r>
          </a:p>
        </p:txBody>
      </p:sp>
      <p:sp>
        <p:nvSpPr>
          <p:cNvPr id="33" name="TextBox 32"/>
          <p:cNvSpPr txBox="1"/>
          <p:nvPr/>
        </p:nvSpPr>
        <p:spPr>
          <a:xfrm>
            <a:off x="6931152" y="2752344"/>
            <a:ext cx="658368" cy="182880"/>
          </a:xfrm>
          <a:prstGeom prst="rect">
            <a:avLst/>
          </a:prstGeom>
          <a:noFill/>
        </p:spPr>
        <p:txBody>
          <a:bodyPr wrap="square" lIns="45720" rIns="45720" anchor="t">
            <a:spAutoFit/>
          </a:bodyPr>
          <a:lstStyle/>
          <a:p>
            <a:pPr algn="r">
              <a:spcAft>
                <a:spcPts val="0"/>
              </a:spcAft>
            </a:pPr>
            <a:r>
              <a:rPr sz="800" b="1" i="0">
                <a:solidFill>
                  <a:srgbClr val="4F7DB4"/>
                </a:solidFill>
                <a:latin typeface="Aptos"/>
              </a:rPr>
              <a:t>HIGH</a:t>
            </a:r>
          </a:p>
        </p:txBody>
      </p:sp>
      <p:sp>
        <p:nvSpPr>
          <p:cNvPr id="34" name="Rounded Rectangle 33"/>
          <p:cNvSpPr/>
          <p:nvPr/>
        </p:nvSpPr>
        <p:spPr>
          <a:xfrm>
            <a:off x="4507992" y="3172968"/>
            <a:ext cx="3191256" cy="393192"/>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599432" y="3264408"/>
            <a:ext cx="2377440" cy="182880"/>
          </a:xfrm>
          <a:prstGeom prst="rect">
            <a:avLst/>
          </a:prstGeom>
          <a:noFill/>
        </p:spPr>
        <p:txBody>
          <a:bodyPr wrap="square" lIns="45720" rIns="45720" anchor="t">
            <a:spAutoFit/>
          </a:bodyPr>
          <a:lstStyle/>
          <a:p>
            <a:pPr algn="l">
              <a:spcAft>
                <a:spcPts val="0"/>
              </a:spcAft>
            </a:pPr>
            <a:r>
              <a:rPr sz="900" b="1" i="0">
                <a:solidFill>
                  <a:srgbClr val="27313D"/>
                </a:solidFill>
                <a:latin typeface="Aptos"/>
              </a:rPr>
              <a:t>Network problem</a:t>
            </a:r>
          </a:p>
        </p:txBody>
      </p:sp>
      <p:sp>
        <p:nvSpPr>
          <p:cNvPr id="36" name="TextBox 35"/>
          <p:cNvSpPr txBox="1"/>
          <p:nvPr/>
        </p:nvSpPr>
        <p:spPr>
          <a:xfrm>
            <a:off x="6931152" y="3264408"/>
            <a:ext cx="658368" cy="182880"/>
          </a:xfrm>
          <a:prstGeom prst="rect">
            <a:avLst/>
          </a:prstGeom>
          <a:noFill/>
        </p:spPr>
        <p:txBody>
          <a:bodyPr wrap="square" lIns="45720" rIns="45720" anchor="t">
            <a:spAutoFit/>
          </a:bodyPr>
          <a:lstStyle/>
          <a:p>
            <a:pPr algn="r">
              <a:spcAft>
                <a:spcPts val="0"/>
              </a:spcAft>
            </a:pPr>
            <a:r>
              <a:rPr sz="800" b="1" i="0">
                <a:solidFill>
                  <a:srgbClr val="4F7DB4"/>
                </a:solidFill>
                <a:latin typeface="Aptos"/>
              </a:rPr>
              <a:t>PENDING</a:t>
            </a:r>
          </a:p>
        </p:txBody>
      </p:sp>
      <p:sp>
        <p:nvSpPr>
          <p:cNvPr id="37" name="Rounded Rectangle 36"/>
          <p:cNvSpPr/>
          <p:nvPr/>
        </p:nvSpPr>
        <p:spPr>
          <a:xfrm>
            <a:off x="8001000" y="1280160"/>
            <a:ext cx="3520440" cy="2788920"/>
          </a:xfrm>
          <a:prstGeom prst="roundRect">
            <a:avLst>
              <a:gd name="adj" fmla="val 12000"/>
            </a:avLst>
          </a:prstGeom>
          <a:solidFill>
            <a:srgbClr val="FFFFFF"/>
          </a:solidFill>
          <a:ln w="12700">
            <a:solidFill>
              <a:srgbClr val="DD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8001000" y="1280160"/>
            <a:ext cx="3520440" cy="310896"/>
          </a:xfrm>
          <a:prstGeom prst="roundRect">
            <a:avLst>
              <a:gd name="adj" fmla="val 12000"/>
            </a:avLst>
          </a:prstGeom>
          <a:solidFill>
            <a:srgbClr val="1A2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8129016" y="1380744"/>
            <a:ext cx="73152" cy="73152"/>
          </a:xfrm>
          <a:prstGeom prst="ellipse">
            <a:avLst/>
          </a:prstGeom>
          <a:solidFill>
            <a:srgbClr val="C053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8284464" y="1380744"/>
            <a:ext cx="73152" cy="73152"/>
          </a:xfrm>
          <a:prstGeom prst="ellipse">
            <a:avLst/>
          </a:prstGeom>
          <a:solidFill>
            <a:srgbClr val="E2A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8439912" y="1380744"/>
            <a:ext cx="73152" cy="73152"/>
          </a:xfrm>
          <a:prstGeom prst="ellipse">
            <a:avLst/>
          </a:prstGeom>
          <a:solidFill>
            <a:srgbClr val="4591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165592" y="1755648"/>
            <a:ext cx="3200400" cy="292608"/>
          </a:xfrm>
          <a:prstGeom prst="rect">
            <a:avLst/>
          </a:prstGeom>
          <a:noFill/>
        </p:spPr>
        <p:txBody>
          <a:bodyPr wrap="square" lIns="45720" rIns="45720" anchor="t">
            <a:spAutoFit/>
          </a:bodyPr>
          <a:lstStyle/>
          <a:p>
            <a:pPr algn="l">
              <a:spcAft>
                <a:spcPts val="0"/>
              </a:spcAft>
            </a:pPr>
            <a:r>
              <a:rPr sz="1300" b="1" i="0">
                <a:solidFill>
                  <a:srgbClr val="1A2B43"/>
                </a:solidFill>
                <a:latin typeface="Aptos"/>
              </a:rPr>
              <a:t>Admin panel</a:t>
            </a:r>
          </a:p>
        </p:txBody>
      </p:sp>
      <p:sp>
        <p:nvSpPr>
          <p:cNvPr id="43" name="Rounded Rectangle 42"/>
          <p:cNvSpPr/>
          <p:nvPr/>
        </p:nvSpPr>
        <p:spPr>
          <a:xfrm>
            <a:off x="8165592" y="2148839"/>
            <a:ext cx="3191256" cy="393192"/>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257031" y="2240279"/>
            <a:ext cx="2377440" cy="182880"/>
          </a:xfrm>
          <a:prstGeom prst="rect">
            <a:avLst/>
          </a:prstGeom>
          <a:noFill/>
        </p:spPr>
        <p:txBody>
          <a:bodyPr wrap="square" lIns="45720" rIns="45720" anchor="t">
            <a:spAutoFit/>
          </a:bodyPr>
          <a:lstStyle/>
          <a:p>
            <a:pPr algn="l">
              <a:spcAft>
                <a:spcPts val="0"/>
              </a:spcAft>
            </a:pPr>
            <a:r>
              <a:rPr sz="900" b="1" i="0">
                <a:solidFill>
                  <a:srgbClr val="27313D"/>
                </a:solidFill>
                <a:latin typeface="Aptos"/>
              </a:rPr>
              <a:t>Expired complaints</a:t>
            </a:r>
          </a:p>
        </p:txBody>
      </p:sp>
      <p:sp>
        <p:nvSpPr>
          <p:cNvPr id="45" name="TextBox 44"/>
          <p:cNvSpPr txBox="1"/>
          <p:nvPr/>
        </p:nvSpPr>
        <p:spPr>
          <a:xfrm>
            <a:off x="10588752" y="2240279"/>
            <a:ext cx="658368" cy="182880"/>
          </a:xfrm>
          <a:prstGeom prst="rect">
            <a:avLst/>
          </a:prstGeom>
          <a:noFill/>
        </p:spPr>
        <p:txBody>
          <a:bodyPr wrap="square" lIns="45720" rIns="45720" anchor="t">
            <a:spAutoFit/>
          </a:bodyPr>
          <a:lstStyle/>
          <a:p>
            <a:pPr algn="r">
              <a:spcAft>
                <a:spcPts val="0"/>
              </a:spcAft>
            </a:pPr>
            <a:r>
              <a:rPr sz="800" b="1" i="0">
                <a:solidFill>
                  <a:srgbClr val="E2AE53"/>
                </a:solidFill>
                <a:latin typeface="Aptos"/>
              </a:rPr>
              <a:t>URGENT</a:t>
            </a:r>
          </a:p>
        </p:txBody>
      </p:sp>
      <p:sp>
        <p:nvSpPr>
          <p:cNvPr id="46" name="Rounded Rectangle 45"/>
          <p:cNvSpPr/>
          <p:nvPr/>
        </p:nvSpPr>
        <p:spPr>
          <a:xfrm>
            <a:off x="8165592" y="2660903"/>
            <a:ext cx="3191256" cy="393192"/>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257031" y="2752344"/>
            <a:ext cx="2377440" cy="182880"/>
          </a:xfrm>
          <a:prstGeom prst="rect">
            <a:avLst/>
          </a:prstGeom>
          <a:noFill/>
        </p:spPr>
        <p:txBody>
          <a:bodyPr wrap="square" lIns="45720" rIns="45720" anchor="t">
            <a:spAutoFit/>
          </a:bodyPr>
          <a:lstStyle/>
          <a:p>
            <a:pPr algn="l">
              <a:spcAft>
                <a:spcPts val="0"/>
              </a:spcAft>
            </a:pPr>
            <a:r>
              <a:rPr sz="900" b="1" i="0">
                <a:solidFill>
                  <a:srgbClr val="27313D"/>
                </a:solidFill>
                <a:latin typeface="Aptos"/>
              </a:rPr>
              <a:t>Near deadline</a:t>
            </a:r>
          </a:p>
        </p:txBody>
      </p:sp>
      <p:sp>
        <p:nvSpPr>
          <p:cNvPr id="48" name="TextBox 47"/>
          <p:cNvSpPr txBox="1"/>
          <p:nvPr/>
        </p:nvSpPr>
        <p:spPr>
          <a:xfrm>
            <a:off x="10588752" y="2752344"/>
            <a:ext cx="658368" cy="182880"/>
          </a:xfrm>
          <a:prstGeom prst="rect">
            <a:avLst/>
          </a:prstGeom>
          <a:noFill/>
        </p:spPr>
        <p:txBody>
          <a:bodyPr wrap="square" lIns="45720" rIns="45720" anchor="t">
            <a:spAutoFit/>
          </a:bodyPr>
          <a:lstStyle/>
          <a:p>
            <a:pPr algn="r">
              <a:spcAft>
                <a:spcPts val="0"/>
              </a:spcAft>
            </a:pPr>
            <a:r>
              <a:rPr sz="800" b="1" i="0">
                <a:solidFill>
                  <a:srgbClr val="E2AE53"/>
                </a:solidFill>
                <a:latin typeface="Aptos"/>
              </a:rPr>
              <a:t>REVIEW</a:t>
            </a:r>
          </a:p>
        </p:txBody>
      </p:sp>
      <p:sp>
        <p:nvSpPr>
          <p:cNvPr id="49" name="Rounded Rectangle 48"/>
          <p:cNvSpPr/>
          <p:nvPr/>
        </p:nvSpPr>
        <p:spPr>
          <a:xfrm>
            <a:off x="8165592" y="3172968"/>
            <a:ext cx="3191256" cy="393192"/>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257031" y="3264408"/>
            <a:ext cx="2377440" cy="182880"/>
          </a:xfrm>
          <a:prstGeom prst="rect">
            <a:avLst/>
          </a:prstGeom>
          <a:noFill/>
        </p:spPr>
        <p:txBody>
          <a:bodyPr wrap="square" lIns="45720" rIns="45720" anchor="t">
            <a:spAutoFit/>
          </a:bodyPr>
          <a:lstStyle/>
          <a:p>
            <a:pPr algn="l">
              <a:spcAft>
                <a:spcPts val="0"/>
              </a:spcAft>
            </a:pPr>
            <a:r>
              <a:rPr sz="900" b="1" i="0">
                <a:solidFill>
                  <a:srgbClr val="27313D"/>
                </a:solidFill>
                <a:latin typeface="Aptos"/>
              </a:rPr>
              <a:t>Resolved issues</a:t>
            </a:r>
          </a:p>
        </p:txBody>
      </p:sp>
      <p:sp>
        <p:nvSpPr>
          <p:cNvPr id="51" name="TextBox 50"/>
          <p:cNvSpPr txBox="1"/>
          <p:nvPr/>
        </p:nvSpPr>
        <p:spPr>
          <a:xfrm>
            <a:off x="10588752" y="3264408"/>
            <a:ext cx="658368" cy="182880"/>
          </a:xfrm>
          <a:prstGeom prst="rect">
            <a:avLst/>
          </a:prstGeom>
          <a:noFill/>
        </p:spPr>
        <p:txBody>
          <a:bodyPr wrap="square" lIns="45720" rIns="45720" anchor="t">
            <a:spAutoFit/>
          </a:bodyPr>
          <a:lstStyle/>
          <a:p>
            <a:pPr algn="r">
              <a:spcAft>
                <a:spcPts val="0"/>
              </a:spcAft>
            </a:pPr>
            <a:r>
              <a:rPr sz="800" b="1" i="0">
                <a:solidFill>
                  <a:srgbClr val="E2AE53"/>
                </a:solidFill>
                <a:latin typeface="Aptos"/>
              </a:rPr>
              <a:t>CLOSED</a:t>
            </a:r>
          </a:p>
        </p:txBody>
      </p:sp>
      <p:sp>
        <p:nvSpPr>
          <p:cNvPr id="52" name="TextBox 51"/>
          <p:cNvSpPr txBox="1"/>
          <p:nvPr/>
        </p:nvSpPr>
        <p:spPr>
          <a:xfrm>
            <a:off x="777240" y="4434840"/>
            <a:ext cx="2743200" cy="274320"/>
          </a:xfrm>
          <a:prstGeom prst="rect">
            <a:avLst/>
          </a:prstGeom>
          <a:noFill/>
        </p:spPr>
        <p:txBody>
          <a:bodyPr wrap="square" lIns="45720" rIns="45720" anchor="t">
            <a:spAutoFit/>
          </a:bodyPr>
          <a:lstStyle/>
          <a:p>
            <a:pPr algn="l">
              <a:spcAft>
                <a:spcPts val="0"/>
              </a:spcAft>
            </a:pPr>
            <a:r>
              <a:rPr sz="1500" b="1" i="0">
                <a:solidFill>
                  <a:srgbClr val="1A2B43"/>
                </a:solidFill>
                <a:latin typeface="Aptos"/>
              </a:rPr>
              <a:t>Other pages in the project</a:t>
            </a:r>
          </a:p>
        </p:txBody>
      </p:sp>
      <p:sp>
        <p:nvSpPr>
          <p:cNvPr id="53" name="Rounded Rectangle 52"/>
          <p:cNvSpPr/>
          <p:nvPr/>
        </p:nvSpPr>
        <p:spPr>
          <a:xfrm>
            <a:off x="777240" y="4983480"/>
            <a:ext cx="1828800" cy="292608"/>
          </a:xfrm>
          <a:prstGeom prst="roundRect">
            <a:avLst>
              <a:gd name="adj" fmla="val 12000"/>
            </a:avLst>
          </a:prstGeom>
          <a:solidFill>
            <a:srgbClr val="DC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22960" y="5001768"/>
            <a:ext cx="1737360" cy="237744"/>
          </a:xfrm>
          <a:prstGeom prst="rect">
            <a:avLst/>
          </a:prstGeom>
          <a:noFill/>
        </p:spPr>
        <p:txBody>
          <a:bodyPr wrap="square" lIns="0" tIns="0" rIns="0" bIns="0" anchor="ctr">
            <a:spAutoFit/>
          </a:bodyPr>
          <a:lstStyle/>
          <a:p>
            <a:pPr algn="ctr">
              <a:spcAft>
                <a:spcPts val="0"/>
              </a:spcAft>
            </a:pPr>
            <a:r>
              <a:rPr sz="1000" b="1" i="0">
                <a:solidFill>
                  <a:srgbClr val="238487"/>
                </a:solidFill>
                <a:latin typeface="Aptos"/>
              </a:rPr>
              <a:t>Profile</a:t>
            </a:r>
          </a:p>
        </p:txBody>
      </p:sp>
      <p:sp>
        <p:nvSpPr>
          <p:cNvPr id="55" name="Rounded Rectangle 54"/>
          <p:cNvSpPr/>
          <p:nvPr/>
        </p:nvSpPr>
        <p:spPr>
          <a:xfrm>
            <a:off x="2926080" y="4983480"/>
            <a:ext cx="1828800" cy="292608"/>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2971800" y="5001768"/>
            <a:ext cx="1737360" cy="237744"/>
          </a:xfrm>
          <a:prstGeom prst="rect">
            <a:avLst/>
          </a:prstGeom>
          <a:noFill/>
        </p:spPr>
        <p:txBody>
          <a:bodyPr wrap="square" lIns="0" tIns="0" rIns="0" bIns="0" anchor="ctr">
            <a:spAutoFit/>
          </a:bodyPr>
          <a:lstStyle/>
          <a:p>
            <a:pPr algn="ctr">
              <a:spcAft>
                <a:spcPts val="0"/>
              </a:spcAft>
            </a:pPr>
            <a:r>
              <a:rPr sz="1000" b="1" i="0">
                <a:solidFill>
                  <a:srgbClr val="1A2B43"/>
                </a:solidFill>
                <a:latin typeface="Aptos"/>
              </a:rPr>
              <a:t>Analytics</a:t>
            </a:r>
          </a:p>
        </p:txBody>
      </p:sp>
      <p:sp>
        <p:nvSpPr>
          <p:cNvPr id="57" name="Rounded Rectangle 56"/>
          <p:cNvSpPr/>
          <p:nvPr/>
        </p:nvSpPr>
        <p:spPr>
          <a:xfrm>
            <a:off x="5074920" y="4983480"/>
            <a:ext cx="1828800" cy="292608"/>
          </a:xfrm>
          <a:prstGeom prst="roundRect">
            <a:avLst>
              <a:gd name="adj" fmla="val 12000"/>
            </a:avLst>
          </a:prstGeom>
          <a:solidFill>
            <a:srgbClr val="DC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120640" y="5001768"/>
            <a:ext cx="1737360" cy="237744"/>
          </a:xfrm>
          <a:prstGeom prst="rect">
            <a:avLst/>
          </a:prstGeom>
          <a:noFill/>
        </p:spPr>
        <p:txBody>
          <a:bodyPr wrap="square" lIns="0" tIns="0" rIns="0" bIns="0" anchor="ctr">
            <a:spAutoFit/>
          </a:bodyPr>
          <a:lstStyle/>
          <a:p>
            <a:pPr algn="ctr">
              <a:spcAft>
                <a:spcPts val="0"/>
              </a:spcAft>
            </a:pPr>
            <a:r>
              <a:rPr sz="1000" b="1" i="0">
                <a:solidFill>
                  <a:srgbClr val="238487"/>
                </a:solidFill>
                <a:latin typeface="Aptos"/>
              </a:rPr>
              <a:t>Notifications</a:t>
            </a:r>
          </a:p>
        </p:txBody>
      </p:sp>
      <p:sp>
        <p:nvSpPr>
          <p:cNvPr id="59" name="Rounded Rectangle 58"/>
          <p:cNvSpPr/>
          <p:nvPr/>
        </p:nvSpPr>
        <p:spPr>
          <a:xfrm>
            <a:off x="7223760" y="4983480"/>
            <a:ext cx="1828800" cy="292608"/>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269480" y="5001768"/>
            <a:ext cx="1737360" cy="237744"/>
          </a:xfrm>
          <a:prstGeom prst="rect">
            <a:avLst/>
          </a:prstGeom>
          <a:noFill/>
        </p:spPr>
        <p:txBody>
          <a:bodyPr wrap="square" lIns="0" tIns="0" rIns="0" bIns="0" anchor="ctr">
            <a:spAutoFit/>
          </a:bodyPr>
          <a:lstStyle/>
          <a:p>
            <a:pPr algn="ctr">
              <a:spcAft>
                <a:spcPts val="0"/>
              </a:spcAft>
            </a:pPr>
            <a:r>
              <a:rPr sz="1000" b="1" i="0">
                <a:solidFill>
                  <a:srgbClr val="1A2B43"/>
                </a:solidFill>
                <a:latin typeface="Aptos"/>
              </a:rPr>
              <a:t>History</a:t>
            </a:r>
          </a:p>
        </p:txBody>
      </p:sp>
      <p:sp>
        <p:nvSpPr>
          <p:cNvPr id="61" name="Rounded Rectangle 60"/>
          <p:cNvSpPr/>
          <p:nvPr/>
        </p:nvSpPr>
        <p:spPr>
          <a:xfrm>
            <a:off x="9372600" y="4983480"/>
            <a:ext cx="1828800" cy="292608"/>
          </a:xfrm>
          <a:prstGeom prst="roundRect">
            <a:avLst>
              <a:gd name="adj" fmla="val 12000"/>
            </a:avLst>
          </a:prstGeom>
          <a:solidFill>
            <a:srgbClr val="DC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9418320" y="5001768"/>
            <a:ext cx="1737360" cy="237744"/>
          </a:xfrm>
          <a:prstGeom prst="rect">
            <a:avLst/>
          </a:prstGeom>
          <a:noFill/>
        </p:spPr>
        <p:txBody>
          <a:bodyPr wrap="square" lIns="0" tIns="0" rIns="0" bIns="0" anchor="ctr">
            <a:spAutoFit/>
          </a:bodyPr>
          <a:lstStyle/>
          <a:p>
            <a:pPr algn="ctr">
              <a:spcAft>
                <a:spcPts val="0"/>
              </a:spcAft>
            </a:pPr>
            <a:r>
              <a:rPr sz="1000" b="1" i="0">
                <a:solidFill>
                  <a:srgbClr val="238487"/>
                </a:solidFill>
                <a:latin typeface="Aptos"/>
              </a:rPr>
              <a:t>Feedback</a:t>
            </a:r>
          </a:p>
        </p:txBody>
      </p:sp>
      <p:sp>
        <p:nvSpPr>
          <p:cNvPr id="63" name="TextBox 62"/>
          <p:cNvSpPr txBox="1"/>
          <p:nvPr/>
        </p:nvSpPr>
        <p:spPr>
          <a:xfrm>
            <a:off x="777240" y="5715000"/>
            <a:ext cx="10515600" cy="274320"/>
          </a:xfrm>
          <a:prstGeom prst="rect">
            <a:avLst/>
          </a:prstGeom>
          <a:noFill/>
        </p:spPr>
        <p:txBody>
          <a:bodyPr wrap="square" lIns="45720" rIns="45720" anchor="t">
            <a:spAutoFit/>
          </a:bodyPr>
          <a:lstStyle/>
          <a:p>
            <a:pPr algn="l">
              <a:spcAft>
                <a:spcPts val="0"/>
              </a:spcAft>
            </a:pPr>
            <a:r>
              <a:rPr sz="1200" b="0" i="1">
                <a:solidFill>
                  <a:srgbClr val="647180"/>
                </a:solidFill>
                <a:latin typeface="Aptos"/>
              </a:rPr>
              <a:t>Illustrative interface layout — replace with actual project screenshots if required for review.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10789920" cy="475488"/>
          </a:xfrm>
          <a:prstGeom prst="rect">
            <a:avLst/>
          </a:prstGeom>
          <a:noFill/>
        </p:spPr>
        <p:txBody>
          <a:bodyPr wrap="square" lIns="45720" rIns="45720" anchor="t">
            <a:spAutoFit/>
          </a:bodyPr>
          <a:lstStyle/>
          <a:p>
            <a:pPr algn="l">
              <a:spcAft>
                <a:spcPts val="0"/>
              </a:spcAft>
            </a:pPr>
            <a:r>
              <a:rPr sz="2400" b="1" i="0">
                <a:solidFill>
                  <a:srgbClr val="1A2B43"/>
                </a:solidFill>
                <a:latin typeface="Aptos"/>
              </a:rPr>
              <a:t>METHODOLOGY</a:t>
            </a:r>
          </a:p>
        </p:txBody>
      </p:sp>
      <p:cxnSp>
        <p:nvCxnSpPr>
          <p:cNvPr id="4" name="Connector 3"/>
          <p:cNvCxnSpPr/>
          <p:nvPr/>
        </p:nvCxnSpPr>
        <p:spPr>
          <a:xfrm>
            <a:off x="530352" y="932688"/>
            <a:ext cx="11128248" cy="0"/>
          </a:xfrm>
          <a:prstGeom prst="line">
            <a:avLst/>
          </a:prstGeom>
          <a:ln w="12700">
            <a:solidFill>
              <a:srgbClr val="DDE3E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9672"/>
            <a:ext cx="9875520" cy="182880"/>
          </a:xfrm>
          <a:prstGeom prst="rect">
            <a:avLst/>
          </a:prstGeom>
          <a:noFill/>
        </p:spPr>
        <p:txBody>
          <a:bodyPr wrap="square" lIns="0" tIns="0" rIns="0" bIns="0" anchor="t">
            <a:spAutoFit/>
          </a:bodyPr>
          <a:lstStyle/>
          <a:p>
            <a:pPr algn="l">
              <a:spcAft>
                <a:spcPts val="0"/>
              </a:spcAft>
            </a:pPr>
            <a:r>
              <a:rPr sz="800" b="1" i="0">
                <a:solidFill>
                  <a:srgbClr val="647180"/>
                </a:solidFill>
                <a:latin typeface="Aptos"/>
              </a:rPr>
              <a:t>CAMPUS COMPLAINT &amp; ISSUE TRACKING SYSTEM  •  WEB PROGRAMMING</a:t>
            </a:r>
          </a:p>
        </p:txBody>
      </p:sp>
      <p:sp>
        <p:nvSpPr>
          <p:cNvPr id="6" name="TextBox 5"/>
          <p:cNvSpPr txBox="1"/>
          <p:nvPr/>
        </p:nvSpPr>
        <p:spPr>
          <a:xfrm>
            <a:off x="11201400" y="6492240"/>
            <a:ext cx="457200" cy="228600"/>
          </a:xfrm>
          <a:prstGeom prst="rect">
            <a:avLst/>
          </a:prstGeom>
          <a:noFill/>
        </p:spPr>
        <p:txBody>
          <a:bodyPr wrap="square" lIns="0" tIns="0" rIns="0" bIns="0" anchor="t">
            <a:spAutoFit/>
          </a:bodyPr>
          <a:lstStyle/>
          <a:p>
            <a:pPr algn="r">
              <a:spcAft>
                <a:spcPts val="0"/>
              </a:spcAft>
            </a:pPr>
            <a:r>
              <a:rPr sz="900" b="1" i="0">
                <a:solidFill>
                  <a:srgbClr val="238487"/>
                </a:solidFill>
                <a:latin typeface="Aptos"/>
              </a:rPr>
              <a:t>10</a:t>
            </a:r>
          </a:p>
        </p:txBody>
      </p:sp>
      <p:sp>
        <p:nvSpPr>
          <p:cNvPr id="7" name="Rounded Rectangle 6"/>
          <p:cNvSpPr/>
          <p:nvPr/>
        </p:nvSpPr>
        <p:spPr>
          <a:xfrm>
            <a:off x="685800" y="1417320"/>
            <a:ext cx="3429000" cy="1371600"/>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68680" y="1618488"/>
            <a:ext cx="475488" cy="475488"/>
          </a:xfrm>
          <a:prstGeom prst="ellipse">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673352"/>
            <a:ext cx="475488" cy="256032"/>
          </a:xfrm>
          <a:prstGeom prst="rect">
            <a:avLst/>
          </a:prstGeom>
          <a:noFill/>
        </p:spPr>
        <p:txBody>
          <a:bodyPr wrap="square" lIns="0" tIns="0" rIns="0" bIns="0" anchor="t">
            <a:spAutoFit/>
          </a:bodyPr>
          <a:lstStyle/>
          <a:p>
            <a:pPr algn="ctr">
              <a:spcAft>
                <a:spcPts val="0"/>
              </a:spcAft>
            </a:pPr>
            <a:r>
              <a:rPr sz="1500" b="1" i="0">
                <a:solidFill>
                  <a:srgbClr val="FFFFFF"/>
                </a:solidFill>
                <a:latin typeface="Aptos"/>
              </a:rPr>
              <a:t>1</a:t>
            </a:r>
          </a:p>
        </p:txBody>
      </p:sp>
      <p:sp>
        <p:nvSpPr>
          <p:cNvPr id="10" name="TextBox 9"/>
          <p:cNvSpPr txBox="1"/>
          <p:nvPr/>
        </p:nvSpPr>
        <p:spPr>
          <a:xfrm>
            <a:off x="1490472" y="1618488"/>
            <a:ext cx="2377440" cy="310896"/>
          </a:xfrm>
          <a:prstGeom prst="rect">
            <a:avLst/>
          </a:prstGeom>
          <a:noFill/>
        </p:spPr>
        <p:txBody>
          <a:bodyPr wrap="square" lIns="45720" rIns="45720" anchor="t">
            <a:spAutoFit/>
          </a:bodyPr>
          <a:lstStyle/>
          <a:p>
            <a:pPr algn="l">
              <a:spcAft>
                <a:spcPts val="0"/>
              </a:spcAft>
            </a:pPr>
            <a:r>
              <a:rPr sz="1600" b="1" i="0">
                <a:solidFill>
                  <a:srgbClr val="1A2B43"/>
                </a:solidFill>
                <a:latin typeface="Aptos"/>
              </a:rPr>
              <a:t>Design pages</a:t>
            </a:r>
          </a:p>
        </p:txBody>
      </p:sp>
      <p:sp>
        <p:nvSpPr>
          <p:cNvPr id="11" name="TextBox 10"/>
          <p:cNvSpPr txBox="1"/>
          <p:nvPr/>
        </p:nvSpPr>
        <p:spPr>
          <a:xfrm>
            <a:off x="1490472" y="2075688"/>
            <a:ext cx="2331720" cy="365760"/>
          </a:xfrm>
          <a:prstGeom prst="rect">
            <a:avLst/>
          </a:prstGeom>
          <a:noFill/>
        </p:spPr>
        <p:txBody>
          <a:bodyPr wrap="square" lIns="45720" rIns="45720" anchor="t">
            <a:spAutoFit/>
          </a:bodyPr>
          <a:lstStyle/>
          <a:p>
            <a:pPr algn="l">
              <a:spcAft>
                <a:spcPts val="0"/>
              </a:spcAft>
            </a:pPr>
            <a:r>
              <a:rPr sz="1300" b="0" i="0">
                <a:solidFill>
                  <a:srgbClr val="647180"/>
                </a:solidFill>
                <a:latin typeface="Aptos"/>
              </a:rPr>
              <a:t>HTML + CSS</a:t>
            </a:r>
          </a:p>
        </p:txBody>
      </p:sp>
      <p:sp>
        <p:nvSpPr>
          <p:cNvPr id="12" name="Rounded Rectangle 11"/>
          <p:cNvSpPr/>
          <p:nvPr/>
        </p:nvSpPr>
        <p:spPr>
          <a:xfrm>
            <a:off x="4507992" y="1417320"/>
            <a:ext cx="3429000" cy="1371600"/>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690872" y="1618488"/>
            <a:ext cx="475488" cy="475488"/>
          </a:xfrm>
          <a:prstGeom prst="ellipse">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90872" y="1673352"/>
            <a:ext cx="475488" cy="256032"/>
          </a:xfrm>
          <a:prstGeom prst="rect">
            <a:avLst/>
          </a:prstGeom>
          <a:noFill/>
        </p:spPr>
        <p:txBody>
          <a:bodyPr wrap="square" lIns="0" tIns="0" rIns="0" bIns="0" anchor="t">
            <a:spAutoFit/>
          </a:bodyPr>
          <a:lstStyle/>
          <a:p>
            <a:pPr algn="ctr">
              <a:spcAft>
                <a:spcPts val="0"/>
              </a:spcAft>
            </a:pPr>
            <a:r>
              <a:rPr sz="1500" b="1" i="0">
                <a:solidFill>
                  <a:srgbClr val="FFFFFF"/>
                </a:solidFill>
                <a:latin typeface="Aptos"/>
              </a:rPr>
              <a:t>2</a:t>
            </a:r>
          </a:p>
        </p:txBody>
      </p:sp>
      <p:sp>
        <p:nvSpPr>
          <p:cNvPr id="15" name="TextBox 14"/>
          <p:cNvSpPr txBox="1"/>
          <p:nvPr/>
        </p:nvSpPr>
        <p:spPr>
          <a:xfrm>
            <a:off x="5312664" y="1618488"/>
            <a:ext cx="2377440" cy="310896"/>
          </a:xfrm>
          <a:prstGeom prst="rect">
            <a:avLst/>
          </a:prstGeom>
          <a:noFill/>
        </p:spPr>
        <p:txBody>
          <a:bodyPr wrap="square" lIns="45720" rIns="45720" anchor="t">
            <a:spAutoFit/>
          </a:bodyPr>
          <a:lstStyle/>
          <a:p>
            <a:pPr algn="l">
              <a:spcAft>
                <a:spcPts val="0"/>
              </a:spcAft>
            </a:pPr>
            <a:r>
              <a:rPr sz="1600" b="1" i="0">
                <a:solidFill>
                  <a:srgbClr val="1A2B43"/>
                </a:solidFill>
                <a:latin typeface="Aptos"/>
              </a:rPr>
              <a:t>Handle interaction</a:t>
            </a:r>
          </a:p>
        </p:txBody>
      </p:sp>
      <p:sp>
        <p:nvSpPr>
          <p:cNvPr id="16" name="TextBox 15"/>
          <p:cNvSpPr txBox="1"/>
          <p:nvPr/>
        </p:nvSpPr>
        <p:spPr>
          <a:xfrm>
            <a:off x="5312664" y="2075688"/>
            <a:ext cx="2331720" cy="365760"/>
          </a:xfrm>
          <a:prstGeom prst="rect">
            <a:avLst/>
          </a:prstGeom>
          <a:noFill/>
        </p:spPr>
        <p:txBody>
          <a:bodyPr wrap="square" lIns="45720" rIns="45720" anchor="t">
            <a:spAutoFit/>
          </a:bodyPr>
          <a:lstStyle/>
          <a:p>
            <a:pPr algn="l">
              <a:spcAft>
                <a:spcPts val="0"/>
              </a:spcAft>
            </a:pPr>
            <a:r>
              <a:rPr sz="1300" b="0" i="0">
                <a:solidFill>
                  <a:srgbClr val="647180"/>
                </a:solidFill>
                <a:latin typeface="Aptos"/>
              </a:rPr>
              <a:t>JavaScript + DOM</a:t>
            </a:r>
          </a:p>
        </p:txBody>
      </p:sp>
      <p:sp>
        <p:nvSpPr>
          <p:cNvPr id="17" name="Rounded Rectangle 16"/>
          <p:cNvSpPr/>
          <p:nvPr/>
        </p:nvSpPr>
        <p:spPr>
          <a:xfrm>
            <a:off x="8330183" y="1417320"/>
            <a:ext cx="3429000" cy="1371600"/>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513063" y="1618488"/>
            <a:ext cx="475488" cy="475488"/>
          </a:xfrm>
          <a:prstGeom prst="ellipse">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13063" y="1673352"/>
            <a:ext cx="475488" cy="256032"/>
          </a:xfrm>
          <a:prstGeom prst="rect">
            <a:avLst/>
          </a:prstGeom>
          <a:noFill/>
        </p:spPr>
        <p:txBody>
          <a:bodyPr wrap="square" lIns="0" tIns="0" rIns="0" bIns="0" anchor="t">
            <a:spAutoFit/>
          </a:bodyPr>
          <a:lstStyle/>
          <a:p>
            <a:pPr algn="ctr">
              <a:spcAft>
                <a:spcPts val="0"/>
              </a:spcAft>
            </a:pPr>
            <a:r>
              <a:rPr sz="1500" b="1" i="0">
                <a:solidFill>
                  <a:srgbClr val="FFFFFF"/>
                </a:solidFill>
                <a:latin typeface="Aptos"/>
              </a:rPr>
              <a:t>3</a:t>
            </a:r>
          </a:p>
        </p:txBody>
      </p:sp>
      <p:sp>
        <p:nvSpPr>
          <p:cNvPr id="20" name="TextBox 19"/>
          <p:cNvSpPr txBox="1"/>
          <p:nvPr/>
        </p:nvSpPr>
        <p:spPr>
          <a:xfrm>
            <a:off x="9134856" y="1618488"/>
            <a:ext cx="2377440" cy="310896"/>
          </a:xfrm>
          <a:prstGeom prst="rect">
            <a:avLst/>
          </a:prstGeom>
          <a:noFill/>
        </p:spPr>
        <p:txBody>
          <a:bodyPr wrap="square" lIns="45720" rIns="45720" anchor="t">
            <a:spAutoFit/>
          </a:bodyPr>
          <a:lstStyle/>
          <a:p>
            <a:pPr algn="l">
              <a:spcAft>
                <a:spcPts val="0"/>
              </a:spcAft>
            </a:pPr>
            <a:r>
              <a:rPr sz="1600" b="1" i="0">
                <a:solidFill>
                  <a:srgbClr val="1A2B43"/>
                </a:solidFill>
                <a:latin typeface="Aptos"/>
              </a:rPr>
              <a:t>Send requests</a:t>
            </a:r>
          </a:p>
        </p:txBody>
      </p:sp>
      <p:sp>
        <p:nvSpPr>
          <p:cNvPr id="21" name="TextBox 20"/>
          <p:cNvSpPr txBox="1"/>
          <p:nvPr/>
        </p:nvSpPr>
        <p:spPr>
          <a:xfrm>
            <a:off x="9134856" y="2075688"/>
            <a:ext cx="2331720" cy="365760"/>
          </a:xfrm>
          <a:prstGeom prst="rect">
            <a:avLst/>
          </a:prstGeom>
          <a:noFill/>
        </p:spPr>
        <p:txBody>
          <a:bodyPr wrap="square" lIns="45720" rIns="45720" anchor="t">
            <a:spAutoFit/>
          </a:bodyPr>
          <a:lstStyle/>
          <a:p>
            <a:pPr algn="l">
              <a:spcAft>
                <a:spcPts val="0"/>
              </a:spcAft>
            </a:pPr>
            <a:r>
              <a:rPr sz="1300" b="0" i="0">
                <a:solidFill>
                  <a:srgbClr val="647180"/>
                </a:solidFill>
                <a:latin typeface="Aptos"/>
              </a:rPr>
              <a:t>Fetch / HTTP</a:t>
            </a:r>
          </a:p>
        </p:txBody>
      </p:sp>
      <p:sp>
        <p:nvSpPr>
          <p:cNvPr id="22" name="Rounded Rectangle 21"/>
          <p:cNvSpPr/>
          <p:nvPr/>
        </p:nvSpPr>
        <p:spPr>
          <a:xfrm>
            <a:off x="685800" y="3291839"/>
            <a:ext cx="3429000" cy="1371600"/>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68680" y="3493008"/>
            <a:ext cx="475488" cy="475488"/>
          </a:xfrm>
          <a:prstGeom prst="ellipse">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8680" y="3547872"/>
            <a:ext cx="475488" cy="256032"/>
          </a:xfrm>
          <a:prstGeom prst="rect">
            <a:avLst/>
          </a:prstGeom>
          <a:noFill/>
        </p:spPr>
        <p:txBody>
          <a:bodyPr wrap="square" lIns="0" tIns="0" rIns="0" bIns="0" anchor="t">
            <a:spAutoFit/>
          </a:bodyPr>
          <a:lstStyle/>
          <a:p>
            <a:pPr algn="ctr">
              <a:spcAft>
                <a:spcPts val="0"/>
              </a:spcAft>
            </a:pPr>
            <a:r>
              <a:rPr sz="1500" b="1" i="0">
                <a:solidFill>
                  <a:srgbClr val="FFFFFF"/>
                </a:solidFill>
                <a:latin typeface="Aptos"/>
              </a:rPr>
              <a:t>4</a:t>
            </a:r>
          </a:p>
        </p:txBody>
      </p:sp>
      <p:sp>
        <p:nvSpPr>
          <p:cNvPr id="25" name="TextBox 24"/>
          <p:cNvSpPr txBox="1"/>
          <p:nvPr/>
        </p:nvSpPr>
        <p:spPr>
          <a:xfrm>
            <a:off x="1490472" y="3493008"/>
            <a:ext cx="2377440" cy="310896"/>
          </a:xfrm>
          <a:prstGeom prst="rect">
            <a:avLst/>
          </a:prstGeom>
          <a:noFill/>
        </p:spPr>
        <p:txBody>
          <a:bodyPr wrap="square" lIns="45720" rIns="45720" anchor="t">
            <a:spAutoFit/>
          </a:bodyPr>
          <a:lstStyle/>
          <a:p>
            <a:pPr algn="l">
              <a:spcAft>
                <a:spcPts val="0"/>
              </a:spcAft>
            </a:pPr>
            <a:r>
              <a:rPr sz="1600" b="1" i="0">
                <a:solidFill>
                  <a:srgbClr val="1A2B43"/>
                </a:solidFill>
                <a:latin typeface="Aptos"/>
              </a:rPr>
              <a:t>Process routes</a:t>
            </a:r>
          </a:p>
        </p:txBody>
      </p:sp>
      <p:sp>
        <p:nvSpPr>
          <p:cNvPr id="26" name="TextBox 25"/>
          <p:cNvSpPr txBox="1"/>
          <p:nvPr/>
        </p:nvSpPr>
        <p:spPr>
          <a:xfrm>
            <a:off x="1490472" y="3950207"/>
            <a:ext cx="2331720" cy="365760"/>
          </a:xfrm>
          <a:prstGeom prst="rect">
            <a:avLst/>
          </a:prstGeom>
          <a:noFill/>
        </p:spPr>
        <p:txBody>
          <a:bodyPr wrap="square" lIns="45720" rIns="45720" anchor="t">
            <a:spAutoFit/>
          </a:bodyPr>
          <a:lstStyle/>
          <a:p>
            <a:pPr algn="l">
              <a:spcAft>
                <a:spcPts val="0"/>
              </a:spcAft>
            </a:pPr>
            <a:r>
              <a:rPr sz="1300" b="0" i="0">
                <a:solidFill>
                  <a:srgbClr val="647180"/>
                </a:solidFill>
                <a:latin typeface="Aptos"/>
              </a:rPr>
              <a:t>Node.js + Express</a:t>
            </a:r>
          </a:p>
        </p:txBody>
      </p:sp>
      <p:sp>
        <p:nvSpPr>
          <p:cNvPr id="27" name="Rounded Rectangle 26"/>
          <p:cNvSpPr/>
          <p:nvPr/>
        </p:nvSpPr>
        <p:spPr>
          <a:xfrm>
            <a:off x="4507992" y="3291839"/>
            <a:ext cx="3429000" cy="1371600"/>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4690872" y="3493008"/>
            <a:ext cx="475488" cy="475488"/>
          </a:xfrm>
          <a:prstGeom prst="ellipse">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690872" y="3547872"/>
            <a:ext cx="475488" cy="256032"/>
          </a:xfrm>
          <a:prstGeom prst="rect">
            <a:avLst/>
          </a:prstGeom>
          <a:noFill/>
        </p:spPr>
        <p:txBody>
          <a:bodyPr wrap="square" lIns="0" tIns="0" rIns="0" bIns="0" anchor="t">
            <a:spAutoFit/>
          </a:bodyPr>
          <a:lstStyle/>
          <a:p>
            <a:pPr algn="ctr">
              <a:spcAft>
                <a:spcPts val="0"/>
              </a:spcAft>
            </a:pPr>
            <a:r>
              <a:rPr sz="1500" b="1" i="0">
                <a:solidFill>
                  <a:srgbClr val="FFFFFF"/>
                </a:solidFill>
                <a:latin typeface="Aptos"/>
              </a:rPr>
              <a:t>5</a:t>
            </a:r>
          </a:p>
        </p:txBody>
      </p:sp>
      <p:sp>
        <p:nvSpPr>
          <p:cNvPr id="30" name="TextBox 29"/>
          <p:cNvSpPr txBox="1"/>
          <p:nvPr/>
        </p:nvSpPr>
        <p:spPr>
          <a:xfrm>
            <a:off x="5312664" y="3493008"/>
            <a:ext cx="2377440" cy="310896"/>
          </a:xfrm>
          <a:prstGeom prst="rect">
            <a:avLst/>
          </a:prstGeom>
          <a:noFill/>
        </p:spPr>
        <p:txBody>
          <a:bodyPr wrap="square" lIns="45720" rIns="45720" anchor="t">
            <a:spAutoFit/>
          </a:bodyPr>
          <a:lstStyle/>
          <a:p>
            <a:pPr algn="l">
              <a:spcAft>
                <a:spcPts val="0"/>
              </a:spcAft>
            </a:pPr>
            <a:r>
              <a:rPr sz="1600" b="1" i="0">
                <a:solidFill>
                  <a:srgbClr val="1A2B43"/>
                </a:solidFill>
                <a:latin typeface="Aptos"/>
              </a:rPr>
              <a:t>Store records</a:t>
            </a:r>
          </a:p>
        </p:txBody>
      </p:sp>
      <p:sp>
        <p:nvSpPr>
          <p:cNvPr id="31" name="TextBox 30"/>
          <p:cNvSpPr txBox="1"/>
          <p:nvPr/>
        </p:nvSpPr>
        <p:spPr>
          <a:xfrm>
            <a:off x="5312664" y="3950207"/>
            <a:ext cx="2331720" cy="365760"/>
          </a:xfrm>
          <a:prstGeom prst="rect">
            <a:avLst/>
          </a:prstGeom>
          <a:noFill/>
        </p:spPr>
        <p:txBody>
          <a:bodyPr wrap="square" lIns="45720" rIns="45720" anchor="t">
            <a:spAutoFit/>
          </a:bodyPr>
          <a:lstStyle/>
          <a:p>
            <a:pPr algn="l">
              <a:spcAft>
                <a:spcPts val="0"/>
              </a:spcAft>
            </a:pPr>
            <a:r>
              <a:rPr sz="1300" b="0" i="0">
                <a:solidFill>
                  <a:srgbClr val="647180"/>
                </a:solidFill>
                <a:latin typeface="Aptos"/>
              </a:rPr>
              <a:t>JSON file</a:t>
            </a:r>
          </a:p>
        </p:txBody>
      </p:sp>
      <p:sp>
        <p:nvSpPr>
          <p:cNvPr id="32" name="Rounded Rectangle 31"/>
          <p:cNvSpPr/>
          <p:nvPr/>
        </p:nvSpPr>
        <p:spPr>
          <a:xfrm>
            <a:off x="8330183" y="3291839"/>
            <a:ext cx="3429000" cy="1371600"/>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8513063" y="3493008"/>
            <a:ext cx="475488" cy="475488"/>
          </a:xfrm>
          <a:prstGeom prst="ellipse">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513063" y="3547872"/>
            <a:ext cx="475488" cy="256032"/>
          </a:xfrm>
          <a:prstGeom prst="rect">
            <a:avLst/>
          </a:prstGeom>
          <a:noFill/>
        </p:spPr>
        <p:txBody>
          <a:bodyPr wrap="square" lIns="0" tIns="0" rIns="0" bIns="0" anchor="t">
            <a:spAutoFit/>
          </a:bodyPr>
          <a:lstStyle/>
          <a:p>
            <a:pPr algn="ctr">
              <a:spcAft>
                <a:spcPts val="0"/>
              </a:spcAft>
            </a:pPr>
            <a:r>
              <a:rPr sz="1500" b="1" i="0">
                <a:solidFill>
                  <a:srgbClr val="FFFFFF"/>
                </a:solidFill>
                <a:latin typeface="Aptos"/>
              </a:rPr>
              <a:t>6</a:t>
            </a:r>
          </a:p>
        </p:txBody>
      </p:sp>
      <p:sp>
        <p:nvSpPr>
          <p:cNvPr id="35" name="TextBox 34"/>
          <p:cNvSpPr txBox="1"/>
          <p:nvPr/>
        </p:nvSpPr>
        <p:spPr>
          <a:xfrm>
            <a:off x="9134856" y="3493008"/>
            <a:ext cx="2377440" cy="310896"/>
          </a:xfrm>
          <a:prstGeom prst="rect">
            <a:avLst/>
          </a:prstGeom>
          <a:noFill/>
        </p:spPr>
        <p:txBody>
          <a:bodyPr wrap="square" lIns="45720" rIns="45720" anchor="t">
            <a:spAutoFit/>
          </a:bodyPr>
          <a:lstStyle/>
          <a:p>
            <a:pPr algn="l">
              <a:spcAft>
                <a:spcPts val="0"/>
              </a:spcAft>
            </a:pPr>
            <a:r>
              <a:rPr sz="1600" b="1" i="0">
                <a:solidFill>
                  <a:srgbClr val="1A2B43"/>
                </a:solidFill>
                <a:latin typeface="Aptos"/>
              </a:rPr>
              <a:t>Test workflow</a:t>
            </a:r>
          </a:p>
        </p:txBody>
      </p:sp>
      <p:sp>
        <p:nvSpPr>
          <p:cNvPr id="36" name="TextBox 35"/>
          <p:cNvSpPr txBox="1"/>
          <p:nvPr/>
        </p:nvSpPr>
        <p:spPr>
          <a:xfrm>
            <a:off x="9134856" y="3950207"/>
            <a:ext cx="2331720" cy="365760"/>
          </a:xfrm>
          <a:prstGeom prst="rect">
            <a:avLst/>
          </a:prstGeom>
          <a:noFill/>
        </p:spPr>
        <p:txBody>
          <a:bodyPr wrap="square" lIns="45720" rIns="45720" anchor="t">
            <a:spAutoFit/>
          </a:bodyPr>
          <a:lstStyle/>
          <a:p>
            <a:pPr algn="l">
              <a:spcAft>
                <a:spcPts val="0"/>
              </a:spcAft>
            </a:pPr>
            <a:r>
              <a:rPr sz="1300" b="0" i="0">
                <a:solidFill>
                  <a:srgbClr val="647180"/>
                </a:solidFill>
                <a:latin typeface="Aptos"/>
              </a:rPr>
              <a:t>Signup → Complaint → Monitor → Admin</a:t>
            </a:r>
          </a:p>
        </p:txBody>
      </p:sp>
      <p:sp>
        <p:nvSpPr>
          <p:cNvPr id="37" name="TextBox 36"/>
          <p:cNvSpPr txBox="1"/>
          <p:nvPr/>
        </p:nvSpPr>
        <p:spPr>
          <a:xfrm>
            <a:off x="777240" y="5669280"/>
            <a:ext cx="10515600" cy="320040"/>
          </a:xfrm>
          <a:prstGeom prst="rect">
            <a:avLst/>
          </a:prstGeom>
          <a:noFill/>
        </p:spPr>
        <p:txBody>
          <a:bodyPr wrap="square" lIns="45720" rIns="45720" anchor="t">
            <a:spAutoFit/>
          </a:bodyPr>
          <a:lstStyle/>
          <a:p>
            <a:pPr algn="l">
              <a:spcAft>
                <a:spcPts val="0"/>
              </a:spcAft>
            </a:pPr>
            <a:r>
              <a:rPr sz="1700" b="1" i="0">
                <a:solidFill>
                  <a:srgbClr val="238487"/>
                </a:solidFill>
                <a:latin typeface="Aptos"/>
              </a:rPr>
              <a:t>Development flow: design → implement → connect → store → test → deploy.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10789920" cy="475488"/>
          </a:xfrm>
          <a:prstGeom prst="rect">
            <a:avLst/>
          </a:prstGeom>
          <a:noFill/>
        </p:spPr>
        <p:txBody>
          <a:bodyPr wrap="square" lIns="45720" rIns="45720" anchor="t">
            <a:spAutoFit/>
          </a:bodyPr>
          <a:lstStyle/>
          <a:p>
            <a:pPr algn="l">
              <a:spcAft>
                <a:spcPts val="0"/>
              </a:spcAft>
            </a:pPr>
            <a:r>
              <a:rPr sz="2400" b="1" i="0">
                <a:solidFill>
                  <a:srgbClr val="1A2B43"/>
                </a:solidFill>
                <a:latin typeface="Aptos"/>
              </a:rPr>
              <a:t>SYSTEM ARCHITECTURE</a:t>
            </a:r>
          </a:p>
        </p:txBody>
      </p:sp>
      <p:cxnSp>
        <p:nvCxnSpPr>
          <p:cNvPr id="4" name="Connector 3"/>
          <p:cNvCxnSpPr/>
          <p:nvPr/>
        </p:nvCxnSpPr>
        <p:spPr>
          <a:xfrm>
            <a:off x="530352" y="932688"/>
            <a:ext cx="11128248" cy="0"/>
          </a:xfrm>
          <a:prstGeom prst="line">
            <a:avLst/>
          </a:prstGeom>
          <a:ln w="12700">
            <a:solidFill>
              <a:srgbClr val="DDE3E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9672"/>
            <a:ext cx="9875520" cy="182880"/>
          </a:xfrm>
          <a:prstGeom prst="rect">
            <a:avLst/>
          </a:prstGeom>
          <a:noFill/>
        </p:spPr>
        <p:txBody>
          <a:bodyPr wrap="square" lIns="0" tIns="0" rIns="0" bIns="0" anchor="t">
            <a:spAutoFit/>
          </a:bodyPr>
          <a:lstStyle/>
          <a:p>
            <a:pPr algn="l">
              <a:spcAft>
                <a:spcPts val="0"/>
              </a:spcAft>
            </a:pPr>
            <a:r>
              <a:rPr sz="800" b="1" i="0">
                <a:solidFill>
                  <a:srgbClr val="647180"/>
                </a:solidFill>
                <a:latin typeface="Aptos"/>
              </a:rPr>
              <a:t>CAMPUS COMPLAINT &amp; ISSUE TRACKING SYSTEM  •  WEB PROGRAMMING</a:t>
            </a:r>
          </a:p>
        </p:txBody>
      </p:sp>
      <p:sp>
        <p:nvSpPr>
          <p:cNvPr id="6" name="TextBox 5"/>
          <p:cNvSpPr txBox="1"/>
          <p:nvPr/>
        </p:nvSpPr>
        <p:spPr>
          <a:xfrm>
            <a:off x="11201400" y="6492240"/>
            <a:ext cx="457200" cy="228600"/>
          </a:xfrm>
          <a:prstGeom prst="rect">
            <a:avLst/>
          </a:prstGeom>
          <a:noFill/>
        </p:spPr>
        <p:txBody>
          <a:bodyPr wrap="square" lIns="0" tIns="0" rIns="0" bIns="0" anchor="t">
            <a:spAutoFit/>
          </a:bodyPr>
          <a:lstStyle/>
          <a:p>
            <a:pPr algn="r">
              <a:spcAft>
                <a:spcPts val="0"/>
              </a:spcAft>
            </a:pPr>
            <a:r>
              <a:rPr sz="900" b="1" i="0">
                <a:solidFill>
                  <a:srgbClr val="238487"/>
                </a:solidFill>
                <a:latin typeface="Aptos"/>
              </a:rPr>
              <a:t>11</a:t>
            </a:r>
          </a:p>
        </p:txBody>
      </p:sp>
      <p:sp>
        <p:nvSpPr>
          <p:cNvPr id="7" name="Rounded Rectangle 6"/>
          <p:cNvSpPr/>
          <p:nvPr/>
        </p:nvSpPr>
        <p:spPr>
          <a:xfrm>
            <a:off x="1143000" y="1261872"/>
            <a:ext cx="9921240" cy="749808"/>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143000" y="1261872"/>
            <a:ext cx="137160" cy="749808"/>
          </a:xfrm>
          <a:prstGeom prst="roundRect">
            <a:avLst>
              <a:gd name="adj" fmla="val 12000"/>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508760" y="1371600"/>
            <a:ext cx="2560320" cy="228600"/>
          </a:xfrm>
          <a:prstGeom prst="rect">
            <a:avLst/>
          </a:prstGeom>
          <a:noFill/>
        </p:spPr>
        <p:txBody>
          <a:bodyPr wrap="square" lIns="45720" rIns="45720" anchor="t">
            <a:spAutoFit/>
          </a:bodyPr>
          <a:lstStyle/>
          <a:p>
            <a:pPr algn="l">
              <a:spcAft>
                <a:spcPts val="0"/>
              </a:spcAft>
            </a:pPr>
            <a:r>
              <a:rPr sz="1300" b="1" i="0">
                <a:solidFill>
                  <a:srgbClr val="238487"/>
                </a:solidFill>
                <a:latin typeface="Aptos"/>
              </a:rPr>
              <a:t>CLIENT / FRONTEND</a:t>
            </a:r>
          </a:p>
        </p:txBody>
      </p:sp>
      <p:sp>
        <p:nvSpPr>
          <p:cNvPr id="10" name="TextBox 9"/>
          <p:cNvSpPr txBox="1"/>
          <p:nvPr/>
        </p:nvSpPr>
        <p:spPr>
          <a:xfrm>
            <a:off x="3886200" y="1371600"/>
            <a:ext cx="6766560" cy="365760"/>
          </a:xfrm>
          <a:prstGeom prst="rect">
            <a:avLst/>
          </a:prstGeom>
          <a:noFill/>
        </p:spPr>
        <p:txBody>
          <a:bodyPr wrap="square" lIns="45720" rIns="45720" anchor="t">
            <a:spAutoFit/>
          </a:bodyPr>
          <a:lstStyle/>
          <a:p>
            <a:pPr algn="l">
              <a:spcAft>
                <a:spcPts val="0"/>
              </a:spcAft>
            </a:pPr>
            <a:r>
              <a:rPr sz="1500" b="1" i="0">
                <a:solidFill>
                  <a:srgbClr val="1A2B43"/>
                </a:solidFill>
                <a:latin typeface="Aptos"/>
              </a:rPr>
              <a:t>HTML pages  •  CSS styles  •  JavaScript interactions</a:t>
            </a:r>
          </a:p>
        </p:txBody>
      </p:sp>
      <p:sp>
        <p:nvSpPr>
          <p:cNvPr id="11" name="TextBox 10"/>
          <p:cNvSpPr txBox="1"/>
          <p:nvPr/>
        </p:nvSpPr>
        <p:spPr>
          <a:xfrm>
            <a:off x="5715000" y="1984248"/>
            <a:ext cx="457200" cy="320040"/>
          </a:xfrm>
          <a:prstGeom prst="rect">
            <a:avLst/>
          </a:prstGeom>
          <a:noFill/>
        </p:spPr>
        <p:txBody>
          <a:bodyPr wrap="square" lIns="45720" rIns="45720" anchor="t">
            <a:spAutoFit/>
          </a:bodyPr>
          <a:lstStyle/>
          <a:p>
            <a:pPr algn="ctr">
              <a:spcAft>
                <a:spcPts val="0"/>
              </a:spcAft>
            </a:pPr>
            <a:r>
              <a:rPr sz="1900" b="1" i="0">
                <a:solidFill>
                  <a:srgbClr val="647180"/>
                </a:solidFill>
                <a:latin typeface="Aptos"/>
              </a:rPr>
              <a:t>↓</a:t>
            </a:r>
          </a:p>
        </p:txBody>
      </p:sp>
      <p:sp>
        <p:nvSpPr>
          <p:cNvPr id="12" name="Rounded Rectangle 11"/>
          <p:cNvSpPr/>
          <p:nvPr/>
        </p:nvSpPr>
        <p:spPr>
          <a:xfrm>
            <a:off x="1143000" y="2304287"/>
            <a:ext cx="9921240" cy="749808"/>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143000" y="2304287"/>
            <a:ext cx="137160" cy="749808"/>
          </a:xfrm>
          <a:prstGeom prst="roundRect">
            <a:avLst>
              <a:gd name="adj" fmla="val 12000"/>
            </a:avLst>
          </a:prstGeom>
          <a:solidFill>
            <a:srgbClr val="4F7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508760" y="2414015"/>
            <a:ext cx="2560320" cy="228600"/>
          </a:xfrm>
          <a:prstGeom prst="rect">
            <a:avLst/>
          </a:prstGeom>
          <a:noFill/>
        </p:spPr>
        <p:txBody>
          <a:bodyPr wrap="square" lIns="45720" rIns="45720" anchor="t">
            <a:spAutoFit/>
          </a:bodyPr>
          <a:lstStyle/>
          <a:p>
            <a:pPr algn="l">
              <a:spcAft>
                <a:spcPts val="0"/>
              </a:spcAft>
            </a:pPr>
            <a:r>
              <a:rPr sz="1300" b="1" i="0">
                <a:solidFill>
                  <a:srgbClr val="4F7DB4"/>
                </a:solidFill>
                <a:latin typeface="Aptos"/>
              </a:rPr>
              <a:t>HTTP COMMUNICATION</a:t>
            </a:r>
          </a:p>
        </p:txBody>
      </p:sp>
      <p:sp>
        <p:nvSpPr>
          <p:cNvPr id="15" name="TextBox 14"/>
          <p:cNvSpPr txBox="1"/>
          <p:nvPr/>
        </p:nvSpPr>
        <p:spPr>
          <a:xfrm>
            <a:off x="3886200" y="2414015"/>
            <a:ext cx="6766560" cy="365760"/>
          </a:xfrm>
          <a:prstGeom prst="rect">
            <a:avLst/>
          </a:prstGeom>
          <a:noFill/>
        </p:spPr>
        <p:txBody>
          <a:bodyPr wrap="square" lIns="45720" rIns="45720" anchor="t">
            <a:spAutoFit/>
          </a:bodyPr>
          <a:lstStyle/>
          <a:p>
            <a:pPr algn="l">
              <a:spcAft>
                <a:spcPts val="0"/>
              </a:spcAft>
            </a:pPr>
            <a:r>
              <a:rPr sz="1500" b="1" i="0">
                <a:solidFill>
                  <a:srgbClr val="1A2B43"/>
                </a:solidFill>
                <a:latin typeface="Aptos"/>
              </a:rPr>
              <a:t>Fetch requests  •  JSON request/response data</a:t>
            </a:r>
          </a:p>
        </p:txBody>
      </p:sp>
      <p:sp>
        <p:nvSpPr>
          <p:cNvPr id="16" name="TextBox 15"/>
          <p:cNvSpPr txBox="1"/>
          <p:nvPr/>
        </p:nvSpPr>
        <p:spPr>
          <a:xfrm>
            <a:off x="5715000" y="3026663"/>
            <a:ext cx="457200" cy="320040"/>
          </a:xfrm>
          <a:prstGeom prst="rect">
            <a:avLst/>
          </a:prstGeom>
          <a:noFill/>
        </p:spPr>
        <p:txBody>
          <a:bodyPr wrap="square" lIns="45720" rIns="45720" anchor="t">
            <a:spAutoFit/>
          </a:bodyPr>
          <a:lstStyle/>
          <a:p>
            <a:pPr algn="ctr">
              <a:spcAft>
                <a:spcPts val="0"/>
              </a:spcAft>
            </a:pPr>
            <a:r>
              <a:rPr sz="1900" b="1" i="0">
                <a:solidFill>
                  <a:srgbClr val="647180"/>
                </a:solidFill>
                <a:latin typeface="Aptos"/>
              </a:rPr>
              <a:t>↓</a:t>
            </a:r>
          </a:p>
        </p:txBody>
      </p:sp>
      <p:sp>
        <p:nvSpPr>
          <p:cNvPr id="17" name="Rounded Rectangle 16"/>
          <p:cNvSpPr/>
          <p:nvPr/>
        </p:nvSpPr>
        <p:spPr>
          <a:xfrm>
            <a:off x="1143000" y="3346703"/>
            <a:ext cx="9921240" cy="749808"/>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143000" y="3346703"/>
            <a:ext cx="137160" cy="749808"/>
          </a:xfrm>
          <a:prstGeom prst="roundRect">
            <a:avLst>
              <a:gd name="adj" fmla="val 12000"/>
            </a:avLst>
          </a:prstGeom>
          <a:solidFill>
            <a:srgbClr val="E2A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508760" y="3456432"/>
            <a:ext cx="2560320" cy="228600"/>
          </a:xfrm>
          <a:prstGeom prst="rect">
            <a:avLst/>
          </a:prstGeom>
          <a:noFill/>
        </p:spPr>
        <p:txBody>
          <a:bodyPr wrap="square" lIns="45720" rIns="45720" anchor="t">
            <a:spAutoFit/>
          </a:bodyPr>
          <a:lstStyle/>
          <a:p>
            <a:pPr algn="l">
              <a:spcAft>
                <a:spcPts val="0"/>
              </a:spcAft>
            </a:pPr>
            <a:r>
              <a:rPr sz="1300" b="1" i="0">
                <a:solidFill>
                  <a:srgbClr val="E2AE53"/>
                </a:solidFill>
                <a:latin typeface="Aptos"/>
              </a:rPr>
              <a:t>APPLICATION SERVER</a:t>
            </a:r>
          </a:p>
        </p:txBody>
      </p:sp>
      <p:sp>
        <p:nvSpPr>
          <p:cNvPr id="20" name="TextBox 19"/>
          <p:cNvSpPr txBox="1"/>
          <p:nvPr/>
        </p:nvSpPr>
        <p:spPr>
          <a:xfrm>
            <a:off x="3886200" y="3456432"/>
            <a:ext cx="6766560" cy="365760"/>
          </a:xfrm>
          <a:prstGeom prst="rect">
            <a:avLst/>
          </a:prstGeom>
          <a:noFill/>
        </p:spPr>
        <p:txBody>
          <a:bodyPr wrap="square" lIns="45720" rIns="45720" anchor="t">
            <a:spAutoFit/>
          </a:bodyPr>
          <a:lstStyle/>
          <a:p>
            <a:pPr algn="l">
              <a:spcAft>
                <a:spcPts val="0"/>
              </a:spcAft>
            </a:pPr>
            <a:r>
              <a:rPr sz="1500" b="1" i="0">
                <a:solidFill>
                  <a:srgbClr val="1A2B43"/>
                </a:solidFill>
                <a:latin typeface="Aptos"/>
              </a:rPr>
              <a:t>Node.js  •  Express routes  •  Validation and workflow logic</a:t>
            </a:r>
          </a:p>
        </p:txBody>
      </p:sp>
      <p:sp>
        <p:nvSpPr>
          <p:cNvPr id="21" name="TextBox 20"/>
          <p:cNvSpPr txBox="1"/>
          <p:nvPr/>
        </p:nvSpPr>
        <p:spPr>
          <a:xfrm>
            <a:off x="5715000" y="4069079"/>
            <a:ext cx="457200" cy="320040"/>
          </a:xfrm>
          <a:prstGeom prst="rect">
            <a:avLst/>
          </a:prstGeom>
          <a:noFill/>
        </p:spPr>
        <p:txBody>
          <a:bodyPr wrap="square" lIns="45720" rIns="45720" anchor="t">
            <a:spAutoFit/>
          </a:bodyPr>
          <a:lstStyle/>
          <a:p>
            <a:pPr algn="ctr">
              <a:spcAft>
                <a:spcPts val="0"/>
              </a:spcAft>
            </a:pPr>
            <a:r>
              <a:rPr sz="1900" b="1" i="0">
                <a:solidFill>
                  <a:srgbClr val="647180"/>
                </a:solidFill>
                <a:latin typeface="Aptos"/>
              </a:rPr>
              <a:t>↓</a:t>
            </a:r>
          </a:p>
        </p:txBody>
      </p:sp>
      <p:sp>
        <p:nvSpPr>
          <p:cNvPr id="22" name="Rounded Rectangle 21"/>
          <p:cNvSpPr/>
          <p:nvPr/>
        </p:nvSpPr>
        <p:spPr>
          <a:xfrm>
            <a:off x="1143000" y="4389120"/>
            <a:ext cx="9921240" cy="749808"/>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143000" y="4389120"/>
            <a:ext cx="137160" cy="749808"/>
          </a:xfrm>
          <a:prstGeom prst="roundRect">
            <a:avLst>
              <a:gd name="adj" fmla="val 12000"/>
            </a:avLst>
          </a:prstGeom>
          <a:solidFill>
            <a:srgbClr val="4591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508760" y="4498848"/>
            <a:ext cx="2560320" cy="228600"/>
          </a:xfrm>
          <a:prstGeom prst="rect">
            <a:avLst/>
          </a:prstGeom>
          <a:noFill/>
        </p:spPr>
        <p:txBody>
          <a:bodyPr wrap="square" lIns="45720" rIns="45720" anchor="t">
            <a:spAutoFit/>
          </a:bodyPr>
          <a:lstStyle/>
          <a:p>
            <a:pPr algn="l">
              <a:spcAft>
                <a:spcPts val="0"/>
              </a:spcAft>
            </a:pPr>
            <a:r>
              <a:rPr sz="1300" b="1" i="0">
                <a:solidFill>
                  <a:srgbClr val="45916F"/>
                </a:solidFill>
                <a:latin typeface="Aptos"/>
              </a:rPr>
              <a:t>DATA STORAGE</a:t>
            </a:r>
          </a:p>
        </p:txBody>
      </p:sp>
      <p:sp>
        <p:nvSpPr>
          <p:cNvPr id="25" name="TextBox 24"/>
          <p:cNvSpPr txBox="1"/>
          <p:nvPr/>
        </p:nvSpPr>
        <p:spPr>
          <a:xfrm>
            <a:off x="3886200" y="4498848"/>
            <a:ext cx="6766560" cy="365760"/>
          </a:xfrm>
          <a:prstGeom prst="rect">
            <a:avLst/>
          </a:prstGeom>
          <a:noFill/>
        </p:spPr>
        <p:txBody>
          <a:bodyPr wrap="square" lIns="45720" rIns="45720" anchor="t">
            <a:spAutoFit/>
          </a:bodyPr>
          <a:lstStyle/>
          <a:p>
            <a:pPr algn="l">
              <a:spcAft>
                <a:spcPts val="0"/>
              </a:spcAft>
            </a:pPr>
            <a:r>
              <a:rPr sz="1500" b="1" i="0">
                <a:solidFill>
                  <a:srgbClr val="1A2B43"/>
                </a:solidFill>
                <a:latin typeface="Aptos"/>
              </a:rPr>
              <a:t>db.json  •  Users  •  Complaints  •  Feedback</a:t>
            </a:r>
          </a:p>
        </p:txBody>
      </p:sp>
      <p:sp>
        <p:nvSpPr>
          <p:cNvPr id="26" name="TextBox 25"/>
          <p:cNvSpPr txBox="1"/>
          <p:nvPr/>
        </p:nvSpPr>
        <p:spPr>
          <a:xfrm>
            <a:off x="1143000" y="5669280"/>
            <a:ext cx="9875520" cy="411480"/>
          </a:xfrm>
          <a:prstGeom prst="rect">
            <a:avLst/>
          </a:prstGeom>
          <a:noFill/>
        </p:spPr>
        <p:txBody>
          <a:bodyPr wrap="square" lIns="45720" rIns="45720" anchor="t">
            <a:spAutoFit/>
          </a:bodyPr>
          <a:lstStyle/>
          <a:p>
            <a:pPr algn="l">
              <a:spcAft>
                <a:spcPts val="0"/>
              </a:spcAft>
            </a:pPr>
            <a:r>
              <a:rPr sz="1300" b="0" i="1">
                <a:solidFill>
                  <a:srgbClr val="647180"/>
                </a:solidFill>
                <a:latin typeface="Aptos"/>
              </a:rPr>
              <a:t>The browser displays the interface; Express processes requests and reads or updates the JSON data file.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10789920" cy="475488"/>
          </a:xfrm>
          <a:prstGeom prst="rect">
            <a:avLst/>
          </a:prstGeom>
          <a:noFill/>
        </p:spPr>
        <p:txBody>
          <a:bodyPr wrap="square" lIns="45720" rIns="45720" anchor="t">
            <a:spAutoFit/>
          </a:bodyPr>
          <a:lstStyle/>
          <a:p>
            <a:pPr algn="l">
              <a:spcAft>
                <a:spcPts val="0"/>
              </a:spcAft>
            </a:pPr>
            <a:r>
              <a:rPr sz="2400" b="1" i="0">
                <a:solidFill>
                  <a:srgbClr val="1A2B43"/>
                </a:solidFill>
                <a:latin typeface="Aptos"/>
              </a:rPr>
              <a:t>TECHNOLOGIES USED</a:t>
            </a:r>
          </a:p>
        </p:txBody>
      </p:sp>
      <p:cxnSp>
        <p:nvCxnSpPr>
          <p:cNvPr id="4" name="Connector 3"/>
          <p:cNvCxnSpPr/>
          <p:nvPr/>
        </p:nvCxnSpPr>
        <p:spPr>
          <a:xfrm>
            <a:off x="530352" y="932688"/>
            <a:ext cx="11128248" cy="0"/>
          </a:xfrm>
          <a:prstGeom prst="line">
            <a:avLst/>
          </a:prstGeom>
          <a:ln w="12700">
            <a:solidFill>
              <a:srgbClr val="DDE3E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9672"/>
            <a:ext cx="9875520" cy="182880"/>
          </a:xfrm>
          <a:prstGeom prst="rect">
            <a:avLst/>
          </a:prstGeom>
          <a:noFill/>
        </p:spPr>
        <p:txBody>
          <a:bodyPr wrap="square" lIns="0" tIns="0" rIns="0" bIns="0" anchor="t">
            <a:spAutoFit/>
          </a:bodyPr>
          <a:lstStyle/>
          <a:p>
            <a:pPr algn="l">
              <a:spcAft>
                <a:spcPts val="0"/>
              </a:spcAft>
            </a:pPr>
            <a:r>
              <a:rPr sz="800" b="1" i="0">
                <a:solidFill>
                  <a:srgbClr val="647180"/>
                </a:solidFill>
                <a:latin typeface="Aptos"/>
              </a:rPr>
              <a:t>CAMPUS COMPLAINT &amp; ISSUE TRACKING SYSTEM  •  WEB PROGRAMMING</a:t>
            </a:r>
          </a:p>
        </p:txBody>
      </p:sp>
      <p:sp>
        <p:nvSpPr>
          <p:cNvPr id="6" name="TextBox 5"/>
          <p:cNvSpPr txBox="1"/>
          <p:nvPr/>
        </p:nvSpPr>
        <p:spPr>
          <a:xfrm>
            <a:off x="11201400" y="6492240"/>
            <a:ext cx="457200" cy="228600"/>
          </a:xfrm>
          <a:prstGeom prst="rect">
            <a:avLst/>
          </a:prstGeom>
          <a:noFill/>
        </p:spPr>
        <p:txBody>
          <a:bodyPr wrap="square" lIns="0" tIns="0" rIns="0" bIns="0" anchor="t">
            <a:spAutoFit/>
          </a:bodyPr>
          <a:lstStyle/>
          <a:p>
            <a:pPr algn="r">
              <a:spcAft>
                <a:spcPts val="0"/>
              </a:spcAft>
            </a:pPr>
            <a:r>
              <a:rPr sz="900" b="1" i="0">
                <a:solidFill>
                  <a:srgbClr val="238487"/>
                </a:solidFill>
                <a:latin typeface="Aptos"/>
              </a:rPr>
              <a:t>12</a:t>
            </a:r>
          </a:p>
        </p:txBody>
      </p:sp>
      <p:sp>
        <p:nvSpPr>
          <p:cNvPr id="7" name="Rounded Rectangle 6"/>
          <p:cNvSpPr/>
          <p:nvPr/>
        </p:nvSpPr>
        <p:spPr>
          <a:xfrm>
            <a:off x="777240" y="1298448"/>
            <a:ext cx="5166360" cy="1024128"/>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77240" y="1298448"/>
            <a:ext cx="109728" cy="1024128"/>
          </a:xfrm>
          <a:prstGeom prst="roundRect">
            <a:avLst>
              <a:gd name="adj" fmla="val 12000"/>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1463039"/>
            <a:ext cx="1828800" cy="274320"/>
          </a:xfrm>
          <a:prstGeom prst="rect">
            <a:avLst/>
          </a:prstGeom>
          <a:noFill/>
        </p:spPr>
        <p:txBody>
          <a:bodyPr wrap="square" lIns="45720" rIns="45720" anchor="t">
            <a:spAutoFit/>
          </a:bodyPr>
          <a:lstStyle/>
          <a:p>
            <a:pPr algn="l">
              <a:spcAft>
                <a:spcPts val="0"/>
              </a:spcAft>
            </a:pPr>
            <a:r>
              <a:rPr sz="1700" b="1" i="0">
                <a:solidFill>
                  <a:srgbClr val="1A2B43"/>
                </a:solidFill>
                <a:latin typeface="Aptos"/>
              </a:rPr>
              <a:t>HTML5</a:t>
            </a:r>
          </a:p>
        </p:txBody>
      </p:sp>
      <p:sp>
        <p:nvSpPr>
          <p:cNvPr id="10" name="TextBox 9"/>
          <p:cNvSpPr txBox="1"/>
          <p:nvPr/>
        </p:nvSpPr>
        <p:spPr>
          <a:xfrm>
            <a:off x="2697480" y="1463039"/>
            <a:ext cx="2971800" cy="621792"/>
          </a:xfrm>
          <a:prstGeom prst="rect">
            <a:avLst/>
          </a:prstGeom>
          <a:noFill/>
        </p:spPr>
        <p:txBody>
          <a:bodyPr wrap="square" lIns="45720" rIns="45720" anchor="t">
            <a:spAutoFit/>
          </a:bodyPr>
          <a:lstStyle/>
          <a:p>
            <a:pPr algn="l">
              <a:spcAft>
                <a:spcPts val="0"/>
              </a:spcAft>
            </a:pPr>
            <a:r>
              <a:rPr sz="1200" b="0" i="0">
                <a:solidFill>
                  <a:srgbClr val="27313D"/>
                </a:solidFill>
                <a:latin typeface="Aptos"/>
              </a:rPr>
              <a:t>Page structure, forms and input controls</a:t>
            </a:r>
          </a:p>
        </p:txBody>
      </p:sp>
      <p:sp>
        <p:nvSpPr>
          <p:cNvPr id="11" name="Rounded Rectangle 10"/>
          <p:cNvSpPr/>
          <p:nvPr/>
        </p:nvSpPr>
        <p:spPr>
          <a:xfrm>
            <a:off x="6400800" y="1298448"/>
            <a:ext cx="5166360" cy="1024128"/>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400800" y="1298448"/>
            <a:ext cx="109728" cy="1024128"/>
          </a:xfrm>
          <a:prstGeom prst="roundRect">
            <a:avLst>
              <a:gd name="adj" fmla="val 12000"/>
            </a:avLst>
          </a:prstGeom>
          <a:solidFill>
            <a:srgbClr val="4F7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0" y="1463039"/>
            <a:ext cx="1828800" cy="274320"/>
          </a:xfrm>
          <a:prstGeom prst="rect">
            <a:avLst/>
          </a:prstGeom>
          <a:noFill/>
        </p:spPr>
        <p:txBody>
          <a:bodyPr wrap="square" lIns="45720" rIns="45720" anchor="t">
            <a:spAutoFit/>
          </a:bodyPr>
          <a:lstStyle/>
          <a:p>
            <a:pPr algn="l">
              <a:spcAft>
                <a:spcPts val="0"/>
              </a:spcAft>
            </a:pPr>
            <a:r>
              <a:rPr sz="1700" b="1" i="0">
                <a:solidFill>
                  <a:srgbClr val="1A2B43"/>
                </a:solidFill>
                <a:latin typeface="Aptos"/>
              </a:rPr>
              <a:t>CSS3</a:t>
            </a:r>
          </a:p>
        </p:txBody>
      </p:sp>
      <p:sp>
        <p:nvSpPr>
          <p:cNvPr id="14" name="TextBox 13"/>
          <p:cNvSpPr txBox="1"/>
          <p:nvPr/>
        </p:nvSpPr>
        <p:spPr>
          <a:xfrm>
            <a:off x="8321040" y="1463039"/>
            <a:ext cx="2971800" cy="621792"/>
          </a:xfrm>
          <a:prstGeom prst="rect">
            <a:avLst/>
          </a:prstGeom>
          <a:noFill/>
        </p:spPr>
        <p:txBody>
          <a:bodyPr wrap="square" lIns="45720" rIns="45720" anchor="t">
            <a:spAutoFit/>
          </a:bodyPr>
          <a:lstStyle/>
          <a:p>
            <a:pPr algn="l">
              <a:spcAft>
                <a:spcPts val="0"/>
              </a:spcAft>
            </a:pPr>
            <a:r>
              <a:rPr sz="1200" b="0" i="0">
                <a:solidFill>
                  <a:srgbClr val="27313D"/>
                </a:solidFill>
                <a:latin typeface="Aptos"/>
              </a:rPr>
              <a:t>Layout, colors, spacing and responsive styling</a:t>
            </a:r>
          </a:p>
        </p:txBody>
      </p:sp>
      <p:sp>
        <p:nvSpPr>
          <p:cNvPr id="15" name="Rounded Rectangle 14"/>
          <p:cNvSpPr/>
          <p:nvPr/>
        </p:nvSpPr>
        <p:spPr>
          <a:xfrm>
            <a:off x="777240" y="2624328"/>
            <a:ext cx="5166360" cy="1024128"/>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77240" y="2624328"/>
            <a:ext cx="109728" cy="1024128"/>
          </a:xfrm>
          <a:prstGeom prst="roundRect">
            <a:avLst>
              <a:gd name="adj" fmla="val 12000"/>
            </a:avLst>
          </a:prstGeom>
          <a:solidFill>
            <a:srgbClr val="E2A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51560" y="2788920"/>
            <a:ext cx="1828800" cy="274320"/>
          </a:xfrm>
          <a:prstGeom prst="rect">
            <a:avLst/>
          </a:prstGeom>
          <a:noFill/>
        </p:spPr>
        <p:txBody>
          <a:bodyPr wrap="square" lIns="45720" rIns="45720" anchor="t">
            <a:spAutoFit/>
          </a:bodyPr>
          <a:lstStyle/>
          <a:p>
            <a:pPr algn="l">
              <a:spcAft>
                <a:spcPts val="0"/>
              </a:spcAft>
            </a:pPr>
            <a:r>
              <a:rPr sz="1700" b="1" i="0">
                <a:solidFill>
                  <a:srgbClr val="1A2B43"/>
                </a:solidFill>
                <a:latin typeface="Aptos"/>
              </a:rPr>
              <a:t>JavaScript</a:t>
            </a:r>
          </a:p>
        </p:txBody>
      </p:sp>
      <p:sp>
        <p:nvSpPr>
          <p:cNvPr id="18" name="TextBox 17"/>
          <p:cNvSpPr txBox="1"/>
          <p:nvPr/>
        </p:nvSpPr>
        <p:spPr>
          <a:xfrm>
            <a:off x="2697480" y="2788920"/>
            <a:ext cx="2971800" cy="621792"/>
          </a:xfrm>
          <a:prstGeom prst="rect">
            <a:avLst/>
          </a:prstGeom>
          <a:noFill/>
        </p:spPr>
        <p:txBody>
          <a:bodyPr wrap="square" lIns="45720" rIns="45720" anchor="t">
            <a:spAutoFit/>
          </a:bodyPr>
          <a:lstStyle/>
          <a:p>
            <a:pPr algn="l">
              <a:spcAft>
                <a:spcPts val="0"/>
              </a:spcAft>
            </a:pPr>
            <a:r>
              <a:rPr sz="1200" b="0" i="0">
                <a:solidFill>
                  <a:srgbClr val="27313D"/>
                </a:solidFill>
                <a:latin typeface="Aptos"/>
              </a:rPr>
              <a:t>Validation, DOM updates, events and fetch requests</a:t>
            </a:r>
          </a:p>
        </p:txBody>
      </p:sp>
      <p:sp>
        <p:nvSpPr>
          <p:cNvPr id="19" name="Rounded Rectangle 18"/>
          <p:cNvSpPr/>
          <p:nvPr/>
        </p:nvSpPr>
        <p:spPr>
          <a:xfrm>
            <a:off x="6400800" y="2624328"/>
            <a:ext cx="5166360" cy="1024128"/>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400800" y="2624328"/>
            <a:ext cx="109728" cy="1024128"/>
          </a:xfrm>
          <a:prstGeom prst="roundRect">
            <a:avLst>
              <a:gd name="adj" fmla="val 12000"/>
            </a:avLst>
          </a:prstGeom>
          <a:solidFill>
            <a:srgbClr val="4591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75120" y="2788920"/>
            <a:ext cx="1828800" cy="274320"/>
          </a:xfrm>
          <a:prstGeom prst="rect">
            <a:avLst/>
          </a:prstGeom>
          <a:noFill/>
        </p:spPr>
        <p:txBody>
          <a:bodyPr wrap="square" lIns="45720" rIns="45720" anchor="t">
            <a:spAutoFit/>
          </a:bodyPr>
          <a:lstStyle/>
          <a:p>
            <a:pPr algn="l">
              <a:spcAft>
                <a:spcPts val="0"/>
              </a:spcAft>
            </a:pPr>
            <a:r>
              <a:rPr sz="1700" b="1" i="0">
                <a:solidFill>
                  <a:srgbClr val="1A2B43"/>
                </a:solidFill>
                <a:latin typeface="Aptos"/>
              </a:rPr>
              <a:t>Node.js</a:t>
            </a:r>
          </a:p>
        </p:txBody>
      </p:sp>
      <p:sp>
        <p:nvSpPr>
          <p:cNvPr id="22" name="TextBox 21"/>
          <p:cNvSpPr txBox="1"/>
          <p:nvPr/>
        </p:nvSpPr>
        <p:spPr>
          <a:xfrm>
            <a:off x="8321040" y="2788920"/>
            <a:ext cx="2971800" cy="621792"/>
          </a:xfrm>
          <a:prstGeom prst="rect">
            <a:avLst/>
          </a:prstGeom>
          <a:noFill/>
        </p:spPr>
        <p:txBody>
          <a:bodyPr wrap="square" lIns="45720" rIns="45720" anchor="t">
            <a:spAutoFit/>
          </a:bodyPr>
          <a:lstStyle/>
          <a:p>
            <a:pPr algn="l">
              <a:spcAft>
                <a:spcPts val="0"/>
              </a:spcAft>
            </a:pPr>
            <a:r>
              <a:rPr sz="1200" b="0" i="0">
                <a:solidFill>
                  <a:srgbClr val="27313D"/>
                </a:solidFill>
                <a:latin typeface="Aptos"/>
              </a:rPr>
              <a:t>JavaScript runtime for the server</a:t>
            </a:r>
          </a:p>
        </p:txBody>
      </p:sp>
      <p:sp>
        <p:nvSpPr>
          <p:cNvPr id="23" name="Rounded Rectangle 22"/>
          <p:cNvSpPr/>
          <p:nvPr/>
        </p:nvSpPr>
        <p:spPr>
          <a:xfrm>
            <a:off x="777240" y="3950208"/>
            <a:ext cx="5166360" cy="1024128"/>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777240" y="3950208"/>
            <a:ext cx="109728" cy="1024128"/>
          </a:xfrm>
          <a:prstGeom prst="roundRect">
            <a:avLst>
              <a:gd name="adj" fmla="val 12000"/>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51560" y="4114800"/>
            <a:ext cx="1828800" cy="274320"/>
          </a:xfrm>
          <a:prstGeom prst="rect">
            <a:avLst/>
          </a:prstGeom>
          <a:noFill/>
        </p:spPr>
        <p:txBody>
          <a:bodyPr wrap="square" lIns="45720" rIns="45720" anchor="t">
            <a:spAutoFit/>
          </a:bodyPr>
          <a:lstStyle/>
          <a:p>
            <a:pPr algn="l">
              <a:spcAft>
                <a:spcPts val="0"/>
              </a:spcAft>
            </a:pPr>
            <a:r>
              <a:rPr sz="1700" b="1" i="0">
                <a:solidFill>
                  <a:srgbClr val="1A2B43"/>
                </a:solidFill>
                <a:latin typeface="Aptos"/>
              </a:rPr>
              <a:t>Express.js</a:t>
            </a:r>
          </a:p>
        </p:txBody>
      </p:sp>
      <p:sp>
        <p:nvSpPr>
          <p:cNvPr id="26" name="TextBox 25"/>
          <p:cNvSpPr txBox="1"/>
          <p:nvPr/>
        </p:nvSpPr>
        <p:spPr>
          <a:xfrm>
            <a:off x="2697480" y="4114800"/>
            <a:ext cx="2971800" cy="621792"/>
          </a:xfrm>
          <a:prstGeom prst="rect">
            <a:avLst/>
          </a:prstGeom>
          <a:noFill/>
        </p:spPr>
        <p:txBody>
          <a:bodyPr wrap="square" lIns="45720" rIns="45720" anchor="t">
            <a:spAutoFit/>
          </a:bodyPr>
          <a:lstStyle/>
          <a:p>
            <a:pPr algn="l">
              <a:spcAft>
                <a:spcPts val="0"/>
              </a:spcAft>
            </a:pPr>
            <a:r>
              <a:rPr sz="1200" b="0" i="0">
                <a:solidFill>
                  <a:srgbClr val="27313D"/>
                </a:solidFill>
                <a:latin typeface="Aptos"/>
              </a:rPr>
              <a:t>HTTP endpoints and request handling</a:t>
            </a:r>
          </a:p>
        </p:txBody>
      </p:sp>
      <p:sp>
        <p:nvSpPr>
          <p:cNvPr id="27" name="Rounded Rectangle 26"/>
          <p:cNvSpPr/>
          <p:nvPr/>
        </p:nvSpPr>
        <p:spPr>
          <a:xfrm>
            <a:off x="6400800" y="3950208"/>
            <a:ext cx="5166360" cy="1024128"/>
          </a:xfrm>
          <a:prstGeom prst="roundRect">
            <a:avLst>
              <a:gd name="adj" fmla="val 12000"/>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400800" y="3950208"/>
            <a:ext cx="109728" cy="1024128"/>
          </a:xfrm>
          <a:prstGeom prst="roundRect">
            <a:avLst>
              <a:gd name="adj" fmla="val 12000"/>
            </a:avLst>
          </a:prstGeom>
          <a:solidFill>
            <a:srgbClr val="4F7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75120" y="4114800"/>
            <a:ext cx="1828800" cy="274320"/>
          </a:xfrm>
          <a:prstGeom prst="rect">
            <a:avLst/>
          </a:prstGeom>
          <a:noFill/>
        </p:spPr>
        <p:txBody>
          <a:bodyPr wrap="square" lIns="45720" rIns="45720" anchor="t">
            <a:spAutoFit/>
          </a:bodyPr>
          <a:lstStyle/>
          <a:p>
            <a:pPr algn="l">
              <a:spcAft>
                <a:spcPts val="0"/>
              </a:spcAft>
            </a:pPr>
            <a:r>
              <a:rPr sz="1700" b="1" i="0">
                <a:solidFill>
                  <a:srgbClr val="1A2B43"/>
                </a:solidFill>
                <a:latin typeface="Aptos"/>
              </a:rPr>
              <a:t>JSON file</a:t>
            </a:r>
          </a:p>
        </p:txBody>
      </p:sp>
      <p:sp>
        <p:nvSpPr>
          <p:cNvPr id="30" name="TextBox 29"/>
          <p:cNvSpPr txBox="1"/>
          <p:nvPr/>
        </p:nvSpPr>
        <p:spPr>
          <a:xfrm>
            <a:off x="8321040" y="4114800"/>
            <a:ext cx="2971800" cy="621792"/>
          </a:xfrm>
          <a:prstGeom prst="rect">
            <a:avLst/>
          </a:prstGeom>
          <a:noFill/>
        </p:spPr>
        <p:txBody>
          <a:bodyPr wrap="square" lIns="45720" rIns="45720" anchor="t">
            <a:spAutoFit/>
          </a:bodyPr>
          <a:lstStyle/>
          <a:p>
            <a:pPr algn="l">
              <a:spcAft>
                <a:spcPts val="0"/>
              </a:spcAft>
            </a:pPr>
            <a:r>
              <a:rPr sz="1200" b="0" i="0">
                <a:solidFill>
                  <a:srgbClr val="27313D"/>
                </a:solidFill>
                <a:latin typeface="Aptos"/>
              </a:rPr>
              <a:t>Prototype storage for users, complaints and feedback</a:t>
            </a:r>
          </a:p>
        </p:txBody>
      </p:sp>
      <p:sp>
        <p:nvSpPr>
          <p:cNvPr id="31" name="Rounded Rectangle 30"/>
          <p:cNvSpPr/>
          <p:nvPr/>
        </p:nvSpPr>
        <p:spPr>
          <a:xfrm>
            <a:off x="777240" y="5440680"/>
            <a:ext cx="10789920" cy="594360"/>
          </a:xfrm>
          <a:prstGeom prst="roundRect">
            <a:avLst>
              <a:gd name="adj" fmla="val 12000"/>
            </a:avLst>
          </a:prstGeom>
          <a:solidFill>
            <a:srgbClr val="DC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60120" y="5596128"/>
            <a:ext cx="10424160" cy="256032"/>
          </a:xfrm>
          <a:prstGeom prst="rect">
            <a:avLst/>
          </a:prstGeom>
          <a:noFill/>
        </p:spPr>
        <p:txBody>
          <a:bodyPr wrap="square" lIns="45720" rIns="45720" anchor="t">
            <a:spAutoFit/>
          </a:bodyPr>
          <a:lstStyle/>
          <a:p>
            <a:pPr algn="l">
              <a:spcAft>
                <a:spcPts val="0"/>
              </a:spcAft>
            </a:pPr>
            <a:r>
              <a:rPr sz="1300" b="1" i="0">
                <a:solidFill>
                  <a:srgbClr val="238487"/>
                </a:solidFill>
                <a:latin typeface="Aptos"/>
              </a:rPr>
              <a:t>Course concepts demonstrated: forms • CSS styling • variables and functions • events • DOM • client/server communication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2B43"/>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778240" y="731520"/>
            <a:ext cx="2286000" cy="5212080"/>
          </a:xfrm>
          <a:prstGeom prst="roundRect">
            <a:avLst>
              <a:gd name="adj" fmla="val 12000"/>
            </a:avLst>
          </a:prstGeom>
          <a:solidFill>
            <a:srgbClr val="203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326880" y="1280160"/>
            <a:ext cx="1188720" cy="4114800"/>
          </a:xfrm>
          <a:prstGeom prst="roundRect">
            <a:avLst>
              <a:gd name="adj" fmla="val 12000"/>
            </a:avLst>
          </a:prstGeom>
          <a:solidFill>
            <a:srgbClr val="238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371600"/>
            <a:ext cx="7498079" cy="1325880"/>
          </a:xfrm>
          <a:prstGeom prst="rect">
            <a:avLst/>
          </a:prstGeom>
          <a:noFill/>
        </p:spPr>
        <p:txBody>
          <a:bodyPr wrap="square" lIns="45720" rIns="45720" anchor="t">
            <a:spAutoFit/>
          </a:bodyPr>
          <a:lstStyle/>
          <a:p>
            <a:pPr algn="l">
              <a:spcAft>
                <a:spcPts val="500"/>
              </a:spcAft>
            </a:pPr>
            <a:r>
              <a:rPr sz="2800" b="1" i="0">
                <a:solidFill>
                  <a:srgbClr val="FFFFFF"/>
                </a:solidFill>
                <a:latin typeface="Aptos"/>
              </a:rPr>
              <a:t>CAMPUS COMPLAINT</a:t>
            </a:r>
          </a:p>
          <a:p>
            <a:pPr algn="l">
              <a:spcAft>
                <a:spcPts val="500"/>
              </a:spcAft>
            </a:pPr>
            <a:r>
              <a:rPr sz="2800" b="1" i="0">
                <a:solidFill>
                  <a:srgbClr val="FFFFFF"/>
                </a:solidFill>
                <a:latin typeface="Aptos"/>
              </a:rPr>
              <a:t>&amp; ISSUE TRACKING SYSTEM</a:t>
            </a:r>
          </a:p>
        </p:txBody>
      </p:sp>
      <p:cxnSp>
        <p:nvCxnSpPr>
          <p:cNvPr id="6" name="Connector 5"/>
          <p:cNvCxnSpPr/>
          <p:nvPr/>
        </p:nvCxnSpPr>
        <p:spPr>
          <a:xfrm>
            <a:off x="914400" y="2971800"/>
            <a:ext cx="3108960" cy="0"/>
          </a:xfrm>
          <a:prstGeom prst="line">
            <a:avLst/>
          </a:prstGeom>
          <a:ln w="38100">
            <a:solidFill>
              <a:srgbClr val="E2AE5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3383280"/>
            <a:ext cx="5486400" cy="822960"/>
          </a:xfrm>
          <a:prstGeom prst="rect">
            <a:avLst/>
          </a:prstGeom>
          <a:noFill/>
        </p:spPr>
        <p:txBody>
          <a:bodyPr wrap="square" lIns="45720" rIns="45720" anchor="t">
            <a:spAutoFit/>
          </a:bodyPr>
          <a:lstStyle/>
          <a:p>
            <a:pPr algn="l">
              <a:spcAft>
                <a:spcPts val="0"/>
              </a:spcAft>
            </a:pPr>
            <a:r>
              <a:rPr sz="3400" b="1" i="0">
                <a:solidFill>
                  <a:srgbClr val="96DCD3"/>
                </a:solidFill>
                <a:latin typeface="Aptos"/>
              </a:rPr>
              <a:t>THANK YOU</a:t>
            </a:r>
          </a:p>
        </p:txBody>
      </p:sp>
      <p:sp>
        <p:nvSpPr>
          <p:cNvPr id="8" name="TextBox 7"/>
          <p:cNvSpPr txBox="1"/>
          <p:nvPr/>
        </p:nvSpPr>
        <p:spPr>
          <a:xfrm>
            <a:off x="914400" y="4343400"/>
            <a:ext cx="5486400" cy="411480"/>
          </a:xfrm>
          <a:prstGeom prst="rect">
            <a:avLst/>
          </a:prstGeom>
          <a:noFill/>
        </p:spPr>
        <p:txBody>
          <a:bodyPr wrap="square" lIns="45720" rIns="45720" anchor="t">
            <a:spAutoFit/>
          </a:bodyPr>
          <a:lstStyle/>
          <a:p>
            <a:pPr algn="l">
              <a:spcAft>
                <a:spcPts val="0"/>
              </a:spcAft>
            </a:pPr>
            <a:r>
              <a:rPr sz="1700" b="0" i="0">
                <a:solidFill>
                  <a:srgbClr val="FFFFFF"/>
                </a:solidFill>
                <a:latin typeface="Aptos"/>
              </a:rPr>
              <a:t>Questions &amp; suggestions are welcome.</a:t>
            </a:r>
          </a:p>
        </p:txBody>
      </p:sp>
      <p:sp>
        <p:nvSpPr>
          <p:cNvPr id="9" name="TextBox 8"/>
          <p:cNvSpPr txBox="1"/>
          <p:nvPr/>
        </p:nvSpPr>
        <p:spPr>
          <a:xfrm>
            <a:off x="914400" y="5897880"/>
            <a:ext cx="4572000" cy="274320"/>
          </a:xfrm>
          <a:prstGeom prst="rect">
            <a:avLst/>
          </a:prstGeom>
          <a:noFill/>
        </p:spPr>
        <p:txBody>
          <a:bodyPr wrap="square" lIns="45720" rIns="45720" anchor="t">
            <a:spAutoFit/>
          </a:bodyPr>
          <a:lstStyle/>
          <a:p>
            <a:pPr algn="l">
              <a:spcAft>
                <a:spcPts val="0"/>
              </a:spcAft>
            </a:pPr>
            <a:r>
              <a:rPr sz="1100" b="1" i="0">
                <a:solidFill>
                  <a:srgbClr val="BECBD7"/>
                </a:solidFill>
                <a:latin typeface="Aptos"/>
              </a:rPr>
              <a:t>WEB PROGRAMMING COURSE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1121</Words>
  <Application>Microsoft Office PowerPoint</Application>
  <PresentationFormat>Widescreen</PresentationFormat>
  <Paragraphs>218</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Brindha</dc:creator>
  <cp:keywords/>
  <dc:description>generated using python-pptx</dc:description>
  <cp:lastModifiedBy>BRINDHA A</cp:lastModifiedBy>
  <cp:revision>3</cp:revision>
  <dcterms:created xsi:type="dcterms:W3CDTF">2013-01-27T09:14:16Z</dcterms:created>
  <dcterms:modified xsi:type="dcterms:W3CDTF">2026-10-11T13:22:35Z</dcterms:modified>
  <cp:category/>
</cp:coreProperties>
</file>